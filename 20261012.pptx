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300"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165FB41-F0B7-4DB0-B175-397EDDB2E6A2}">
  <a:tblStyle styleId="{4165FB41-F0B7-4DB0-B175-397EDDB2E6A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742" autoAdjust="0"/>
  </p:normalViewPr>
  <p:slideViewPr>
    <p:cSldViewPr snapToGrid="0">
      <p:cViewPr>
        <p:scale>
          <a:sx n="125" d="100"/>
          <a:sy n="125" d="100"/>
        </p:scale>
        <p:origin x="1194" y="6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zh-TW" alt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dirty="0"/>
              <a:t>Good afternoon, everyone. Today I’m going to present the paper “Frequency Dynamic Convolution for Dense Image Prediction,” from CVPR 2025. </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e03802a49c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59" name="Google Shape;59;g3e03802a49c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Here is the outline of my presentation.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e03802a49c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66" name="Google Shape;66;g3e03802a49c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e03802a49c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73" name="Google Shape;73;g3e03802a49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dirty="0"/>
              <a:t>Dynamic convolution has become a popular way to make convolution more adaptive. Instead of using one static kernel, methods like CondConv and ODConv keep several parallel kernels and mix them with input-dependent attention. The idea is that each kernel can specialize in something different, so the network gains capacity without adding much computation. </a:t>
            </a:r>
            <a:endParaRPr dirty="0"/>
          </a:p>
          <a:p>
            <a:pPr marL="0" lvl="0" indent="0" algn="l" rtl="0">
              <a:spcBef>
                <a:spcPts val="0"/>
              </a:spcBef>
              <a:spcAft>
                <a:spcPts val="0"/>
              </a:spcAft>
              <a:buNone/>
            </a:pPr>
            <a:r>
              <a:rPr lang="zh-TW" dirty="0"/>
              <a:t>However, the authors look at these parallel kernels from a new angle, the frequency domain, and find a problem. In figure (a), we see the frequency responses of the four parallel weights in ODConv. All four curves have almost the same shape: they all emphasize low frequencies and drop off at high frequencies. The t-SNE plot in figure (c) tells the same story. Each small group here contains one point of every color, almost on top of each other. In other words, the filters from the four weights are nearly indistinguishable, so the extra kernels are not really learning anything different.</a:t>
            </a:r>
            <a:endParaRPr dirty="0"/>
          </a:p>
          <a:p>
            <a:pPr marL="0" lvl="0" indent="0" algn="l" rtl="0">
              <a:spcBef>
                <a:spcPts val="0"/>
              </a:spcBef>
              <a:spcAft>
                <a:spcPts val="0"/>
              </a:spcAft>
              <a:buNone/>
            </a:pPr>
            <a:r>
              <a:rPr lang="zh-TW" dirty="0"/>
              <a:t>This matters because these methods multiply the parameter count, typically by four or even eight times. If the extra kernels end up redundant, we pay a large parameter cost for very limited gains in adaptability. Frequency diversity is also especially important for dense prediction tasks like detection and segmentation. Low-frequency components help suppress noise, while high-frequency components capture edges and object boundaries. </a:t>
            </a:r>
            <a:endParaRPr dirty="0"/>
          </a:p>
          <a:p>
            <a:pPr marL="0" lvl="0" indent="0" algn="l" rtl="0">
              <a:spcBef>
                <a:spcPts val="0"/>
              </a:spcBef>
              <a:spcAft>
                <a:spcPts val="0"/>
              </a:spcAft>
              <a:buNone/>
            </a:pPr>
            <a:r>
              <a:rPr lang="zh-TW" dirty="0"/>
              <a:t>To solve this, the authors propose Frequency Dynamic Convolution. As figures (b) and (d) show, the resulting kernels now cover different parts of the spectrum and the four weights are now easy to tell apart.</a:t>
            </a:r>
            <a:endParaRPr dirty="0"/>
          </a:p>
          <a:p>
            <a:pPr marL="457200" lvl="0" indent="-298450" algn="l" rtl="0">
              <a:spcBef>
                <a:spcPts val="0"/>
              </a:spcBef>
              <a:spcAft>
                <a:spcPts val="0"/>
              </a:spcAft>
              <a:buSzPts val="1100"/>
              <a:buAutoNum type="arabicPeriod"/>
            </a:pPr>
            <a:r>
              <a:rPr lang="zh-TW" dirty="0"/>
              <a:t>左：沒有說是Cin×Cout個k×k的平均還是kCin×kCout直接做，但應該是前者，不然FDConv會直接一塊一塊</a:t>
            </a:r>
            <a:endParaRPr dirty="0"/>
          </a:p>
          <a:p>
            <a:pPr marL="457200" lvl="0" indent="-298450" algn="l" rtl="0">
              <a:spcBef>
                <a:spcPts val="0"/>
              </a:spcBef>
              <a:spcAft>
                <a:spcPts val="0"/>
              </a:spcAft>
              <a:buSzPts val="1100"/>
              <a:buAutoNum type="arabicPeriod"/>
            </a:pPr>
            <a:r>
              <a:rPr lang="zh-TW" dirty="0"/>
              <a:t>右：同色每個點代表一個k×k×Cin的filter</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9abf2aef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82" name="Google Shape;82;g3f9abf2aef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f9abf2aef2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89" name="Google Shape;89;g3f9abf2aef2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fabacfafce_0_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96" name="Google Shape;96;g3fabacfafce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fab8ade466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103" name="Google Shape;103;g3fab8ade466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fabacfafce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111" name="Google Shape;111;g3fabacfafce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fabacfafce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122" name="Google Shape;122;g3fabacfafc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zh-TW"/>
              <a:t>左：彩色點都在baseline fronteer左上</a:t>
            </a:r>
            <a:endParaRPr/>
          </a:p>
          <a:p>
            <a:pPr marL="457200" lvl="0" indent="-298450" algn="l" rtl="0">
              <a:spcBef>
                <a:spcPts val="0"/>
              </a:spcBef>
              <a:spcAft>
                <a:spcPts val="0"/>
              </a:spcAft>
              <a:buSzPts val="1100"/>
              <a:buAutoNum type="arabicPeriod"/>
            </a:pPr>
            <a:r>
              <a:rPr lang="zh-TW"/>
              <a:t>右上：對每個backbone都在MADDs增加10%內取得進步</a:t>
            </a:r>
            <a:endParaRPr/>
          </a:p>
          <a:p>
            <a:pPr marL="457200" lvl="0" indent="-298450" algn="l" rtl="0">
              <a:spcBef>
                <a:spcPts val="0"/>
              </a:spcBef>
              <a:spcAft>
                <a:spcPts val="0"/>
              </a:spcAft>
              <a:buSzPts val="1100"/>
              <a:buAutoNum type="arabicPeriod"/>
            </a:pPr>
            <a:r>
              <a:rPr lang="zh-TW"/>
              <a:t>右下：把同類模型限縮到表現差不多時，MADDs大幅減少</a:t>
            </a:r>
            <a:endParaRPr/>
          </a:p>
          <a:p>
            <a:pPr marL="457200" lvl="0" indent="-298450" algn="l" rtl="0">
              <a:spcBef>
                <a:spcPts val="0"/>
              </a:spcBef>
              <a:spcAft>
                <a:spcPts val="0"/>
              </a:spcAft>
              <a:buSzPts val="1100"/>
              <a:buAutoNum type="arabicPeriod"/>
            </a:pPr>
            <a:r>
              <a:rPr lang="zh-TW"/>
              <a:t>模型越大增益越小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fabacfafce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132" name="Google Shape;132;g3fabacfafce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AutoNum type="arabicPeriod"/>
            </a:pPr>
            <a:r>
              <a:rPr lang="zh-TW">
                <a:solidFill>
                  <a:schemeClr val="dk1"/>
                </a:solidFill>
              </a:rPr>
              <a:t>對每個backbone都在MADDs增加5%內取得較大進步</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fabacfafce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140" name="Google Shape;140;g3fabacfafce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AutoNum type="arabicPeriod"/>
            </a:pPr>
            <a:r>
              <a:rPr lang="zh-TW"/>
              <a:t>可以看出來routing fn不能只算一次每層共用</a:t>
            </a:r>
            <a:endParaRPr/>
          </a:p>
          <a:p>
            <a:pPr marL="457200" lvl="0" indent="-298450" algn="l" rtl="0">
              <a:spcBef>
                <a:spcPts val="0"/>
              </a:spcBef>
              <a:spcAft>
                <a:spcPts val="0"/>
              </a:spcAft>
              <a:buSzPts val="1100"/>
              <a:buAutoNum type="arabicPeriod"/>
            </a:pPr>
            <a:r>
              <a:rPr lang="zh-TW"/>
              <a:t>可以看出來加hidden layer效果不大，甚至可能造成bottelneck或overfitting</a:t>
            </a:r>
            <a:endParaRPr/>
          </a:p>
          <a:p>
            <a:pPr marL="457200" lvl="0" indent="-298450" algn="l" rtl="0">
              <a:spcBef>
                <a:spcPts val="0"/>
              </a:spcBef>
              <a:spcAft>
                <a:spcPts val="0"/>
              </a:spcAft>
              <a:buSzPts val="1100"/>
              <a:buAutoNum type="arabicPeriod"/>
            </a:pPr>
            <a:r>
              <a:rPr lang="zh-TW">
                <a:solidFill>
                  <a:schemeClr val="dk1"/>
                </a:solidFill>
              </a:rPr>
              <a:t>routing fn只需要x，不需要前一層的routing fn輸出</a:t>
            </a:r>
            <a:endParaRPr>
              <a:solidFill>
                <a:schemeClr val="dk1"/>
              </a:solidFill>
            </a:endParaRPr>
          </a:p>
          <a:p>
            <a:pPr marL="457200" lvl="0" indent="-298450" algn="l" rtl="0">
              <a:spcBef>
                <a:spcPts val="0"/>
              </a:spcBef>
              <a:spcAft>
                <a:spcPts val="0"/>
              </a:spcAft>
              <a:buClr>
                <a:schemeClr val="dk1"/>
              </a:buClr>
              <a:buSzPts val="1100"/>
              <a:buAutoNum type="arabicPeriod"/>
            </a:pPr>
            <a:r>
              <a:rPr lang="zh-TW">
                <a:solidFill>
                  <a:schemeClr val="dk1"/>
                </a:solidFill>
              </a:rPr>
              <a:t>sigmoid效果比較好 (可能是因為沒做退火，n=32)</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h2d8ff6d74e685567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148" name="Google Shape;148;h2d8ff6d74e685567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zh-TW"/>
              <a:t>用越多層效果越好</a:t>
            </a:r>
            <a:endParaRPr/>
          </a:p>
          <a:p>
            <a:pPr marL="457200" lvl="0" indent="-298450" algn="l" rtl="0">
              <a:spcBef>
                <a:spcPts val="0"/>
              </a:spcBef>
              <a:spcAft>
                <a:spcPts val="0"/>
              </a:spcAft>
              <a:buSzPts val="1100"/>
              <a:buAutoNum type="arabicPeriod"/>
            </a:pPr>
            <a:r>
              <a:rPr lang="zh-TW"/>
              <a:t>考量MADDs做經濟取捨</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h7fc5ef9183a4a326_2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156" name="Google Shape;156;h7fc5ef9183a4a326_2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zh-TW"/>
              <a:t>左：最後一層(FC)的weight分布，接近one-hot</a:t>
            </a:r>
            <a:endParaRPr/>
          </a:p>
          <a:p>
            <a:pPr marL="457200" lvl="0" indent="-298450" algn="l" rtl="0">
              <a:spcBef>
                <a:spcPts val="0"/>
              </a:spcBef>
              <a:spcAft>
                <a:spcPts val="0"/>
              </a:spcAft>
              <a:buSzPts val="1100"/>
              <a:buAutoNum type="arabicPeriod"/>
            </a:pPr>
            <a:r>
              <a:rPr lang="zh-TW"/>
              <a:t>右上：不同層之間，每個標籤的每個專家的權重</a:t>
            </a:r>
            <a:r>
              <a:rPr lang="zh-TW">
                <a:solidFill>
                  <a:schemeClr val="dk1"/>
                </a:solidFill>
              </a:rPr>
              <a:t>平均</a:t>
            </a:r>
            <a:r>
              <a:rPr lang="zh-TW"/>
              <a:t>，越深層越多樣化，值越極端</a:t>
            </a:r>
            <a:endParaRPr/>
          </a:p>
          <a:p>
            <a:pPr marL="457200" lvl="0" indent="-298450" algn="l" rtl="0">
              <a:spcBef>
                <a:spcPts val="0"/>
              </a:spcBef>
              <a:spcAft>
                <a:spcPts val="0"/>
              </a:spcAft>
              <a:buSzPts val="1100"/>
              <a:buAutoNum type="arabicPeriod"/>
            </a:pPr>
            <a:r>
              <a:rPr lang="zh-TW"/>
              <a:t>右下：同個標籤時，最後一層的</a:t>
            </a:r>
            <a:r>
              <a:rPr lang="zh-TW">
                <a:solidFill>
                  <a:schemeClr val="dk1"/>
                </a:solidFill>
              </a:rPr>
              <a:t>每個專家的權重平均和標準差，強調同標籤樣本間權重也是多樣化</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h7fc5ef9183a4a326_2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165" name="Google Shape;165;h7fc5ef9183a4a326_2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zh-TW"/>
              <a:t>針對每個專家，平均權重前10名的類別，選其中權重最高的當代表</a:t>
            </a:r>
            <a:endParaRPr/>
          </a:p>
          <a:p>
            <a:pPr marL="457200" lvl="0" indent="-298450" algn="l" rtl="0">
              <a:spcBef>
                <a:spcPts val="0"/>
              </a:spcBef>
              <a:spcAft>
                <a:spcPts val="0"/>
              </a:spcAft>
              <a:buSzPts val="1100"/>
              <a:buAutoNum type="arabicPeriod"/>
            </a:pPr>
            <a:r>
              <a:rPr lang="zh-TW"/>
              <a:t>每個專家權重高的類別都有相似的視覺特性</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fabacfafce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172" name="Google Shape;172;g3fabacfafce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fabacfafce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179" name="Google Shape;179;g3fabacfafce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fabacfafce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186" name="Google Shape;186;g3fabacfafce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h5ace1c529f235553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193" name="Google Shape;193;h5ace1c529f235553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zh-TW"/>
              <a:t>除了Wi的線性組合，也在捲積加上spatial, channel attention機制</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fabacfafce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207" name="Google Shape;207;g3fabacfafce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None/>
            </a:pPr>
            <a:r>
              <a:rPr lang="zh-TW"/>
              <a:t>aw用softmax是沿用DY-Conv，原因是讓專家互相競爭，和CondConv衝突，可能是加了退火的關係</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fabeab1173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221" name="Google Shape;221;g3fabeab1173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zh-TW"/>
              <a:t>ODConv (1x) 表現和前面相當，參數大幅減少</a:t>
            </a:r>
            <a:endParaRPr/>
          </a:p>
          <a:p>
            <a:pPr marL="457200" lvl="0" indent="-298450" algn="l" rtl="0">
              <a:spcBef>
                <a:spcPts val="0"/>
              </a:spcBef>
              <a:spcAft>
                <a:spcPts val="0"/>
              </a:spcAft>
              <a:buSzPts val="1100"/>
              <a:buAutoNum type="arabicPeriod"/>
            </a:pPr>
            <a:r>
              <a:rPr lang="zh-TW">
                <a:solidFill>
                  <a:schemeClr val="dk1"/>
                </a:solidFill>
              </a:rPr>
              <a:t>ODConv (4x) 表現大幅提高，參數和前面相當</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h5ace1c529f23555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229" name="Google Shape;229;h5ace1c529f23555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AutoNum type="arabicPeriod"/>
            </a:pPr>
            <a:r>
              <a:rPr lang="zh-TW">
                <a:solidFill>
                  <a:schemeClr val="dk1"/>
                </a:solidFill>
              </a:rPr>
              <a:t>ODConv (1x) 表現和前面相當，參數大幅減少</a:t>
            </a:r>
            <a:endParaRPr>
              <a:solidFill>
                <a:schemeClr val="dk1"/>
              </a:solidFill>
            </a:endParaRPr>
          </a:p>
          <a:p>
            <a:pPr marL="457200" lvl="0" indent="-298450" algn="l" rtl="0">
              <a:spcBef>
                <a:spcPts val="0"/>
              </a:spcBef>
              <a:spcAft>
                <a:spcPts val="0"/>
              </a:spcAft>
              <a:buClr>
                <a:schemeClr val="dk1"/>
              </a:buClr>
              <a:buSzPts val="1100"/>
              <a:buAutoNum type="arabicPeriod"/>
            </a:pPr>
            <a:r>
              <a:rPr lang="zh-TW">
                <a:solidFill>
                  <a:schemeClr val="dk1"/>
                </a:solidFill>
              </a:rPr>
              <a:t>ODConv (4x) 表現大幅提高，參數和前面相當</a:t>
            </a:r>
            <a:endParaRPr>
              <a:solidFill>
                <a:schemeClr val="dk1"/>
              </a:solidFill>
            </a:endParaRPr>
          </a:p>
          <a:p>
            <a:pPr marL="457200" lvl="0" indent="-298450" algn="l" rtl="0">
              <a:spcBef>
                <a:spcPts val="0"/>
              </a:spcBef>
              <a:spcAft>
                <a:spcPts val="0"/>
              </a:spcAft>
              <a:buClr>
                <a:schemeClr val="dk1"/>
              </a:buClr>
              <a:buSzPts val="1100"/>
              <a:buAutoNum type="arabicPeriod"/>
            </a:pPr>
            <a:r>
              <a:rPr lang="zh-TW">
                <a:solidFill>
                  <a:schemeClr val="dk1"/>
                </a:solidFill>
              </a:rPr>
              <a:t>和SE等相比表現大幅提高</a:t>
            </a:r>
            <a:endParaRPr>
              <a:solidFill>
                <a:schemeClr val="dk1"/>
              </a:solidFill>
            </a:endParaRPr>
          </a:p>
          <a:p>
            <a:pPr marL="457200" lvl="0" indent="-298450" algn="l" rtl="0">
              <a:spcBef>
                <a:spcPts val="0"/>
              </a:spcBef>
              <a:spcAft>
                <a:spcPts val="0"/>
              </a:spcAft>
              <a:buClr>
                <a:schemeClr val="dk1"/>
              </a:buClr>
              <a:buSzPts val="1100"/>
              <a:buAutoNum type="arabicPeriod"/>
            </a:pPr>
            <a:r>
              <a:rPr lang="zh-TW">
                <a:solidFill>
                  <a:schemeClr val="dk1"/>
                </a:solidFill>
              </a:rPr>
              <a:t>模型越大增益越小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h5ace1c529f235553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239" name="Google Shape;239;h5ace1c529f235553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AutoNum type="arabicPeriod"/>
            </a:pPr>
            <a:r>
              <a:rPr lang="zh-TW">
                <a:solidFill>
                  <a:schemeClr val="dk1"/>
                </a:solidFill>
              </a:rPr>
              <a:t>ODConv (1x) 表現和前面相當，參數大幅減少</a:t>
            </a:r>
            <a:endParaRPr>
              <a:solidFill>
                <a:schemeClr val="dk1"/>
              </a:solidFill>
            </a:endParaRPr>
          </a:p>
          <a:p>
            <a:pPr marL="457200" lvl="0" indent="-298450" algn="l" rtl="0">
              <a:spcBef>
                <a:spcPts val="0"/>
              </a:spcBef>
              <a:spcAft>
                <a:spcPts val="0"/>
              </a:spcAft>
              <a:buClr>
                <a:schemeClr val="dk1"/>
              </a:buClr>
              <a:buSzPts val="1100"/>
              <a:buAutoNum type="arabicPeriod"/>
            </a:pPr>
            <a:r>
              <a:rPr lang="zh-TW">
                <a:solidFill>
                  <a:schemeClr val="dk1"/>
                </a:solidFill>
              </a:rPr>
              <a:t>ODConv (4x) 表現大幅提高，參數和前面相當</a:t>
            </a:r>
            <a:endParaRPr>
              <a:solidFill>
                <a:schemeClr val="dk1"/>
              </a:solidFill>
            </a:endParaRPr>
          </a:p>
          <a:p>
            <a:pPr marL="457200" lvl="0" indent="-298450" algn="l" rtl="0">
              <a:spcBef>
                <a:spcPts val="0"/>
              </a:spcBef>
              <a:spcAft>
                <a:spcPts val="0"/>
              </a:spcAft>
              <a:buClr>
                <a:schemeClr val="dk1"/>
              </a:buClr>
              <a:buSzPts val="1100"/>
              <a:buAutoNum type="arabicPeriod"/>
            </a:pPr>
            <a:r>
              <a:rPr lang="zh-TW">
                <a:solidFill>
                  <a:schemeClr val="dk1"/>
                </a:solidFill>
              </a:rPr>
              <a:t>可遷移性，預訓練在ImageNet分類的backbone可直接接到下游任務finetune</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h5ace1c529f235553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247" name="Google Shape;247;h5ace1c529f235553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zh-TW"/>
              <a:t>r：</a:t>
            </a:r>
            <a:r>
              <a:rPr lang="zh-TW" sz="1150">
                <a:solidFill>
                  <a:srgbClr val="0B0B0B"/>
                </a:solidFill>
              </a:rPr>
              <a:t>routing fn中間層縮小比例</a:t>
            </a:r>
            <a:r>
              <a:rPr lang="zh-TW">
                <a:solidFill>
                  <a:schemeClr val="dk1"/>
                </a:solidFill>
              </a:rPr>
              <a:t>；n：平行權重W數量</a:t>
            </a:r>
            <a:endParaRPr>
              <a:solidFill>
                <a:schemeClr val="dk1"/>
              </a:solidFill>
            </a:endParaRPr>
          </a:p>
          <a:p>
            <a:pPr marL="457200" lvl="0" indent="-298450" algn="l" rtl="0">
              <a:spcBef>
                <a:spcPts val="0"/>
              </a:spcBef>
              <a:spcAft>
                <a:spcPts val="0"/>
              </a:spcAft>
              <a:buClr>
                <a:schemeClr val="dk1"/>
              </a:buClr>
              <a:buSzPts val="1100"/>
              <a:buAutoNum type="arabicPeriod"/>
            </a:pPr>
            <a:r>
              <a:rPr lang="zh-TW">
                <a:solidFill>
                  <a:schemeClr val="dk1"/>
                </a:solidFill>
              </a:rPr>
              <a:t>r 1/8和1/16效果差別不大，但1/16省參數</a:t>
            </a:r>
            <a:endParaRPr>
              <a:solidFill>
                <a:schemeClr val="dk1"/>
              </a:solidFill>
            </a:endParaRPr>
          </a:p>
          <a:p>
            <a:pPr marL="457200" lvl="0" indent="-298450" algn="l" rtl="0">
              <a:spcBef>
                <a:spcPts val="0"/>
              </a:spcBef>
              <a:spcAft>
                <a:spcPts val="0"/>
              </a:spcAft>
              <a:buClr>
                <a:schemeClr val="dk1"/>
              </a:buClr>
              <a:buSzPts val="1100"/>
              <a:buAutoNum type="arabicPeriod"/>
            </a:pPr>
            <a:r>
              <a:rPr lang="zh-TW">
                <a:solidFill>
                  <a:schemeClr val="dk1"/>
                </a:solidFill>
              </a:rPr>
              <a:t>n越大效果越好，但參數線性成長，增益快速遞減</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h5ace1c529f235553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256" name="Google Shape;256;h5ace1c529f235553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zh-TW"/>
              <a:t>上：比較各alpha的功用，spatial單獨比channel重要，但一起用有互補效果，另外最後一行加了aw的同時也從1x變成4x，並不是簡單的參數開關</a:t>
            </a:r>
            <a:endParaRPr/>
          </a:p>
          <a:p>
            <a:pPr marL="457200" lvl="0" indent="-298450" algn="l" rtl="0">
              <a:spcBef>
                <a:spcPts val="0"/>
              </a:spcBef>
              <a:spcAft>
                <a:spcPts val="0"/>
              </a:spcAft>
              <a:buSzPts val="1100"/>
              <a:buAutoNum type="arabicPeriod"/>
            </a:pPr>
            <a:r>
              <a:rPr lang="zh-TW"/>
              <a:t>下：比較個方法執行時間，在大型架構(ResNet)或GPU上特別慢，原因是加上spatial和channel attention後更不方便平行運算</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fabeab1173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265" name="Google Shape;265;g3fabeab1173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e03802a49c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272" name="Google Shape;272;g3e03802a49c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e03802a49c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279" name="Google Shape;279;g3e03802a49c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h5ace1c529f235553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287" name="Google Shape;287;h5ace1c529f235553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h5ace1c529f235553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295" name="Google Shape;295;h5ace1c529f235553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為什麼兩個都要？因為補足conv</a:t>
            </a:r>
            <a:r>
              <a:rPr lang="zh-TW">
                <a:solidFill>
                  <a:schemeClr val="dk1"/>
                </a:solidFill>
              </a:rPr>
              <a:t>1d沒看到全域的問題</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a:extLst>
            <a:ext uri="{FF2B5EF4-FFF2-40B4-BE49-F238E27FC236}">
              <a16:creationId xmlns:a16="http://schemas.microsoft.com/office/drawing/2014/main" id="{AF68D8FB-101E-1701-44B0-DEB402645DEF}"/>
            </a:ext>
          </a:extLst>
        </p:cNvPr>
        <p:cNvGrpSpPr/>
        <p:nvPr/>
      </p:nvGrpSpPr>
      <p:grpSpPr>
        <a:xfrm>
          <a:off x="0" y="0"/>
          <a:ext cx="0" cy="0"/>
          <a:chOff x="0" y="0"/>
          <a:chExt cx="0" cy="0"/>
        </a:xfrm>
      </p:grpSpPr>
      <p:sp>
        <p:nvSpPr>
          <p:cNvPr id="302" name="Google Shape;302;h5ace1c529f235553_0_110:notes">
            <a:extLst>
              <a:ext uri="{FF2B5EF4-FFF2-40B4-BE49-F238E27FC236}">
                <a16:creationId xmlns:a16="http://schemas.microsoft.com/office/drawing/2014/main" id="{612559F3-503D-CFCA-1436-FCBD049BB7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303" name="Google Shape;303;h5ace1c529f235553_0_110:notes">
            <a:extLst>
              <a:ext uri="{FF2B5EF4-FFF2-40B4-BE49-F238E27FC236}">
                <a16:creationId xmlns:a16="http://schemas.microsoft.com/office/drawing/2014/main" id="{40DF7D90-B57B-3AB2-78E6-021C0CFE82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逐頻率逐空間位置attention</a:t>
            </a:r>
            <a:endParaRPr/>
          </a:p>
        </p:txBody>
      </p:sp>
    </p:spTree>
    <p:extLst>
      <p:ext uri="{BB962C8B-B14F-4D97-AF65-F5344CB8AC3E}">
        <p14:creationId xmlns:p14="http://schemas.microsoft.com/office/powerpoint/2010/main" val="21304280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h5ace1c529f235553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311" name="Google Shape;311;h5ace1c529f235553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e03802a49c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319" name="Google Shape;319;g3e03802a49c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3e03802a49c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326" name="Google Shape;326;g3e03802a49c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花少的參數有好的效果，但很慢</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h5ace1c529f235553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334" name="Google Shape;334;h5ace1c529f235553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換到其他backbone也有效果</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3fab2869cb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342" name="Google Shape;342;g3fab2869cb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花少的參數有好的效果，增量多但和baseline比例小</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h5ace1c529f235553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350" name="Google Shape;350;h5ace1c529f235553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在SOTA模型下也有效</a:t>
            </a:r>
            <a:endParaRPr/>
          </a:p>
          <a:p>
            <a:pPr marL="0" lvl="0" indent="0" algn="l" rtl="0">
              <a:spcBef>
                <a:spcPts val="0"/>
              </a:spcBef>
              <a:spcAft>
                <a:spcPts val="0"/>
              </a:spcAft>
              <a:buNone/>
            </a:pPr>
            <a:r>
              <a:rPr lang="zh-TW"/>
              <a:t>照慣例會有ImageNet1K預訓練</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h5ace1c529f235553_0_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358" name="Google Shape;358;h5ace1c529f235553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zh-TW">
                <a:solidFill>
                  <a:schemeClr val="dk1"/>
                </a:solidFill>
              </a:rPr>
              <a:t>在SOTA模型下也有效</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a4e7c7264a22412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366" name="Google Shape;366;ga4e7c7264a22412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solidFill>
                  <a:schemeClr val="dk1"/>
                </a:solidFill>
              </a:rPr>
              <a:t>上：每個部分都有效果，包含KSM的global branch</a:t>
            </a:r>
            <a:br>
              <a:rPr lang="zh-TW">
                <a:solidFill>
                  <a:schemeClr val="dk1"/>
                </a:solidFill>
              </a:rPr>
            </a:br>
            <a:r>
              <a:rPr lang="zh-TW">
                <a:solidFill>
                  <a:schemeClr val="dk1"/>
                </a:solidFill>
              </a:rPr>
              <a:t>下：n取64最好</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a4e7c7264a22412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376" name="Google Shape;376;ga4e7c7264a22412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solidFill>
                  <a:schemeClr val="dk1"/>
                </a:solidFill>
              </a:rPr>
              <a:t>FBM切四段最好，最低頻不要空間注意較好</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h5ace1c529f235553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384" name="Google Shape;384;h5ace1c529f235553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zh-TW"/>
              <a:t>左：wieght之間的cosine similarity matrix</a:t>
            </a:r>
            <a:endParaRPr/>
          </a:p>
          <a:p>
            <a:pPr marL="457200" lvl="0" indent="-298450" algn="l" rtl="0">
              <a:spcBef>
                <a:spcPts val="0"/>
              </a:spcBef>
              <a:spcAft>
                <a:spcPts val="0"/>
              </a:spcAft>
              <a:buSzPts val="1100"/>
              <a:buAutoNum type="arabicPeriod"/>
            </a:pPr>
            <a:r>
              <a:rPr lang="zh-TW"/>
              <a:t>右：在每個stage的某層的權重視覺畫</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h5ace1c529f235553_0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391" name="Google Shape;391;h5ace1c529f235553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zh-TW"/>
              <a:t>越接近高頻注意力越集中在物件邊緣</a:t>
            </a:r>
            <a:endParaRPr/>
          </a:p>
          <a:p>
            <a:pPr marL="457200" lvl="0" indent="-298450" algn="l" rtl="0">
              <a:spcBef>
                <a:spcPts val="0"/>
              </a:spcBef>
              <a:spcAft>
                <a:spcPts val="0"/>
              </a:spcAft>
              <a:buSzPts val="1100"/>
              <a:buAutoNum type="arabicPeriod"/>
            </a:pPr>
            <a:r>
              <a:rPr lang="zh-TW"/>
              <a:t>加完注意力後目標物件有明顯變化</a:t>
            </a:r>
            <a:endParaRPr/>
          </a:p>
          <a:p>
            <a:pPr marL="457200" lvl="0" indent="-298450" algn="l" rtl="0">
              <a:spcBef>
                <a:spcPts val="0"/>
              </a:spcBef>
              <a:spcAft>
                <a:spcPts val="0"/>
              </a:spcAft>
              <a:buSzPts val="1100"/>
              <a:buAutoNum type="arabicPeriod"/>
            </a:pPr>
            <a:r>
              <a:rPr lang="zh-TW"/>
              <a:t>在頻譜上可看到濾掉了不需要的高頻</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g3e03802a49c_0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398" name="Google Shape;398;g3e03802a49c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e03802a49c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zh-TW" altLang="en-US"/>
          </a:p>
        </p:txBody>
      </p:sp>
      <p:sp>
        <p:nvSpPr>
          <p:cNvPr id="405" name="Google Shape;405;g3e03802a49c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zh-TW"/>
              <a:t>To conclude, this paper revisits dynamic convolution from a frequency perspective. The key finding is that the parallel kernels in existing methods have highly similar frequency responses, which wastes a large number of parameters. FDConv learns frequency-disjoint weight and modulates frequency bands spatially, makes it outperforms previous methods while having much smaller parameter size.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2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1.png"/><Relationship Id="rId7"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3.xml"/><Relationship Id="rId5" Type="http://schemas.openxmlformats.org/officeDocument/2006/relationships/image" Target="../media/image38.png"/><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image" Target="../media/image41.png"/><Relationship Id="rId4" Type="http://schemas.openxmlformats.org/officeDocument/2006/relationships/image" Target="../media/image40.png"/></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9.xml"/><Relationship Id="rId1" Type="http://schemas.openxmlformats.org/officeDocument/2006/relationships/slideLayout" Target="../slideLayouts/slideLayout3.xml"/><Relationship Id="rId5" Type="http://schemas.openxmlformats.org/officeDocument/2006/relationships/image" Target="../media/image55.png"/><Relationship Id="rId4" Type="http://schemas.openxmlformats.org/officeDocument/2006/relationships/image" Target="../media/image54.png"/></Relationships>
</file>

<file path=ppt/slides/_rels/slide4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593200"/>
            <a:ext cx="8520600" cy="1542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zh-TW" sz="3000" dirty="0"/>
              <a:t>Frequency Dynamic Convolution for Dense Image Prediction</a:t>
            </a:r>
            <a:endParaRPr sz="3000" dirty="0"/>
          </a:p>
        </p:txBody>
      </p:sp>
      <p:sp>
        <p:nvSpPr>
          <p:cNvPr id="55" name="Google Shape;55;p13"/>
          <p:cNvSpPr txBox="1">
            <a:spLocks noGrp="1"/>
          </p:cNvSpPr>
          <p:nvPr>
            <p:ph type="subTitle" idx="1"/>
          </p:nvPr>
        </p:nvSpPr>
        <p:spPr>
          <a:xfrm>
            <a:off x="252850" y="2504550"/>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zh-TW" sz="1400" i="1">
                <a:solidFill>
                  <a:schemeClr val="dk1"/>
                </a:solidFill>
              </a:rPr>
              <a:t>CVPR 2025</a:t>
            </a:r>
            <a:endParaRPr sz="1400" i="1">
              <a:solidFill>
                <a:schemeClr val="dk1"/>
              </a:solidFill>
            </a:endParaRPr>
          </a:p>
          <a:p>
            <a:pPr marL="0" lvl="0" indent="0" algn="ctr" rtl="0">
              <a:spcBef>
                <a:spcPts val="0"/>
              </a:spcBef>
              <a:spcAft>
                <a:spcPts val="0"/>
              </a:spcAft>
              <a:buNone/>
            </a:pPr>
            <a:r>
              <a:rPr lang="zh-TW" sz="1400">
                <a:solidFill>
                  <a:schemeClr val="dk1"/>
                </a:solidFill>
              </a:rPr>
              <a:t>Chen et al.</a:t>
            </a:r>
            <a:endParaRPr sz="1400">
              <a:solidFill>
                <a:schemeClr val="dk1"/>
              </a:solidFill>
            </a:endParaRPr>
          </a:p>
        </p:txBody>
      </p:sp>
      <p:sp>
        <p:nvSpPr>
          <p:cNvPr id="56" name="Google Shape;56;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79000" y="445025"/>
            <a:ext cx="84534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Outline</a:t>
            </a:r>
            <a:endParaRPr/>
          </a:p>
        </p:txBody>
      </p:sp>
      <p:sp>
        <p:nvSpPr>
          <p:cNvPr id="62" name="Google Shape;62;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a:solidFill>
                  <a:schemeClr val="dk1"/>
                </a:solidFill>
              </a:rPr>
              <a:t>Introduction</a:t>
            </a:r>
            <a:endParaRPr>
              <a:solidFill>
                <a:schemeClr val="dk1"/>
              </a:solidFill>
            </a:endParaRPr>
          </a:p>
          <a:p>
            <a:pPr marL="457200" lvl="0" indent="-342900" algn="l" rtl="0">
              <a:spcBef>
                <a:spcPts val="0"/>
              </a:spcBef>
              <a:spcAft>
                <a:spcPts val="0"/>
              </a:spcAft>
              <a:buClr>
                <a:schemeClr val="dk1"/>
              </a:buClr>
              <a:buSzPts val="1800"/>
              <a:buChar char="●"/>
            </a:pPr>
            <a:r>
              <a:rPr lang="zh-TW">
                <a:solidFill>
                  <a:schemeClr val="dk1"/>
                </a:solidFill>
              </a:rPr>
              <a:t>Related Work</a:t>
            </a:r>
            <a:endParaRPr>
              <a:solidFill>
                <a:schemeClr val="dk1"/>
              </a:solidFill>
            </a:endParaRPr>
          </a:p>
          <a:p>
            <a:pPr marL="457200" lvl="0" indent="-342900" algn="l" rtl="0">
              <a:spcBef>
                <a:spcPts val="0"/>
              </a:spcBef>
              <a:spcAft>
                <a:spcPts val="0"/>
              </a:spcAft>
              <a:buClr>
                <a:schemeClr val="dk1"/>
              </a:buClr>
              <a:buSzPts val="1800"/>
              <a:buChar char="●"/>
            </a:pPr>
            <a:r>
              <a:rPr lang="zh-TW">
                <a:solidFill>
                  <a:schemeClr val="dk1"/>
                </a:solidFill>
              </a:rPr>
              <a:t>Method</a:t>
            </a:r>
            <a:endParaRPr>
              <a:solidFill>
                <a:schemeClr val="dk1"/>
              </a:solidFill>
            </a:endParaRPr>
          </a:p>
          <a:p>
            <a:pPr marL="457200" lvl="0" indent="-342900" algn="l" rtl="0">
              <a:spcBef>
                <a:spcPts val="0"/>
              </a:spcBef>
              <a:spcAft>
                <a:spcPts val="0"/>
              </a:spcAft>
              <a:buClr>
                <a:schemeClr val="dk1"/>
              </a:buClr>
              <a:buSzPts val="1800"/>
              <a:buChar char="●"/>
            </a:pPr>
            <a:r>
              <a:rPr lang="zh-TW">
                <a:solidFill>
                  <a:schemeClr val="dk1"/>
                </a:solidFill>
              </a:rPr>
              <a:t>Experiments</a:t>
            </a:r>
            <a:endParaRPr>
              <a:solidFill>
                <a:schemeClr val="dk1"/>
              </a:solidFill>
            </a:endParaRPr>
          </a:p>
          <a:p>
            <a:pPr marL="457200" lvl="0" indent="-342900" algn="l" rtl="0">
              <a:spcBef>
                <a:spcPts val="0"/>
              </a:spcBef>
              <a:spcAft>
                <a:spcPts val="0"/>
              </a:spcAft>
              <a:buClr>
                <a:schemeClr val="dk1"/>
              </a:buClr>
              <a:buSzPts val="1800"/>
              <a:buChar char="●"/>
            </a:pPr>
            <a:r>
              <a:rPr lang="zh-TW">
                <a:solidFill>
                  <a:schemeClr val="dk1"/>
                </a:solidFill>
              </a:rPr>
              <a:t>Conclusion</a:t>
            </a:r>
            <a:endParaRPr>
              <a:solidFill>
                <a:schemeClr val="dk1"/>
              </a:solidFill>
            </a:endParaRPr>
          </a:p>
        </p:txBody>
      </p:sp>
      <p:sp>
        <p:nvSpPr>
          <p:cNvPr id="63" name="Google Shape;63;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79000" y="445025"/>
            <a:ext cx="84534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Outline</a:t>
            </a:r>
            <a:endParaRPr/>
          </a:p>
        </p:txBody>
      </p:sp>
      <p:sp>
        <p:nvSpPr>
          <p:cNvPr id="69" name="Google Shape;69;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a:solidFill>
                  <a:schemeClr val="dk1"/>
                </a:solidFill>
              </a:rPr>
              <a:t>Introduction</a:t>
            </a:r>
            <a:endParaRPr>
              <a:solidFill>
                <a:schemeClr val="dk1"/>
              </a:solidFill>
            </a:endParaRPr>
          </a:p>
          <a:p>
            <a:pPr marL="457200" lvl="0" indent="-342900" algn="l" rtl="0">
              <a:spcBef>
                <a:spcPts val="0"/>
              </a:spcBef>
              <a:spcAft>
                <a:spcPts val="0"/>
              </a:spcAft>
              <a:buClr>
                <a:schemeClr val="lt2"/>
              </a:buClr>
              <a:buSzPts val="1800"/>
              <a:buChar char="●"/>
            </a:pPr>
            <a:r>
              <a:rPr lang="zh-TW">
                <a:solidFill>
                  <a:schemeClr val="lt2"/>
                </a:solidFill>
              </a:rPr>
              <a:t>Related Work</a:t>
            </a:r>
            <a:endParaRPr>
              <a:solidFill>
                <a:schemeClr val="lt2"/>
              </a:solidFill>
            </a:endParaRPr>
          </a:p>
          <a:p>
            <a:pPr marL="457200" lvl="0" indent="-342900" algn="l" rtl="0">
              <a:spcBef>
                <a:spcPts val="0"/>
              </a:spcBef>
              <a:spcAft>
                <a:spcPts val="0"/>
              </a:spcAft>
              <a:buClr>
                <a:schemeClr val="lt2"/>
              </a:buClr>
              <a:buSzPts val="1800"/>
              <a:buChar char="●"/>
            </a:pPr>
            <a:r>
              <a:rPr lang="zh-TW">
                <a:solidFill>
                  <a:schemeClr val="lt2"/>
                </a:solidFill>
              </a:rPr>
              <a:t>Method</a:t>
            </a:r>
            <a:endParaRPr>
              <a:solidFill>
                <a:schemeClr val="lt2"/>
              </a:solidFill>
            </a:endParaRPr>
          </a:p>
          <a:p>
            <a:pPr marL="457200" lvl="0" indent="-342900" algn="l" rtl="0">
              <a:spcBef>
                <a:spcPts val="0"/>
              </a:spcBef>
              <a:spcAft>
                <a:spcPts val="0"/>
              </a:spcAft>
              <a:buClr>
                <a:schemeClr val="lt2"/>
              </a:buClr>
              <a:buSzPts val="1800"/>
              <a:buChar char="●"/>
            </a:pPr>
            <a:r>
              <a:rPr lang="zh-TW">
                <a:solidFill>
                  <a:schemeClr val="lt2"/>
                </a:solidFill>
              </a:rPr>
              <a:t>Experiments</a:t>
            </a:r>
            <a:endParaRPr>
              <a:solidFill>
                <a:schemeClr val="lt2"/>
              </a:solidFill>
            </a:endParaRPr>
          </a:p>
          <a:p>
            <a:pPr marL="457200" lvl="0" indent="-342900" algn="l" rtl="0">
              <a:spcBef>
                <a:spcPts val="0"/>
              </a:spcBef>
              <a:spcAft>
                <a:spcPts val="0"/>
              </a:spcAft>
              <a:buClr>
                <a:schemeClr val="lt2"/>
              </a:buClr>
              <a:buSzPts val="1800"/>
              <a:buChar char="●"/>
            </a:pPr>
            <a:r>
              <a:rPr lang="zh-TW">
                <a:solidFill>
                  <a:schemeClr val="lt2"/>
                </a:solidFill>
              </a:rPr>
              <a:t>Conclusion</a:t>
            </a:r>
            <a:endParaRPr>
              <a:solidFill>
                <a:schemeClr val="lt2"/>
              </a:solidFill>
            </a:endParaRPr>
          </a:p>
        </p:txBody>
      </p:sp>
      <p:sp>
        <p:nvSpPr>
          <p:cNvPr id="70" name="Google Shape;70;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441175" y="421475"/>
            <a:ext cx="196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Introduction</a:t>
            </a:r>
            <a:endParaRPr/>
          </a:p>
        </p:txBody>
      </p:sp>
      <p:sp>
        <p:nvSpPr>
          <p:cNvPr id="76" name="Google Shape;76;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dirty="0">
                <a:solidFill>
                  <a:schemeClr val="dk1"/>
                </a:solidFill>
              </a:rPr>
              <a:t>Task</a:t>
            </a:r>
            <a:endParaRPr dirty="0">
              <a:solidFill>
                <a:schemeClr val="dk1"/>
              </a:solidFill>
            </a:endParaRPr>
          </a:p>
          <a:p>
            <a:pPr marL="914400" lvl="1" indent="-317500" algn="l" rtl="0">
              <a:spcBef>
                <a:spcPts val="0"/>
              </a:spcBef>
              <a:spcAft>
                <a:spcPts val="0"/>
              </a:spcAft>
              <a:buClr>
                <a:schemeClr val="dk1"/>
              </a:buClr>
              <a:buSzPts val="1400"/>
              <a:buChar char="○"/>
            </a:pPr>
            <a:r>
              <a:rPr lang="zh-TW" dirty="0">
                <a:solidFill>
                  <a:schemeClr val="dk1"/>
                </a:solidFill>
              </a:rPr>
              <a:t>Convolution block of dense image prediction </a:t>
            </a:r>
            <a:endParaRPr dirty="0">
              <a:solidFill>
                <a:schemeClr val="dk1"/>
              </a:solidFill>
            </a:endParaRPr>
          </a:p>
          <a:p>
            <a:pPr marL="457200" lvl="0" indent="-342900" algn="l" rtl="0">
              <a:spcBef>
                <a:spcPts val="0"/>
              </a:spcBef>
              <a:spcAft>
                <a:spcPts val="0"/>
              </a:spcAft>
              <a:buClr>
                <a:schemeClr val="dk1"/>
              </a:buClr>
              <a:buSzPts val="1800"/>
              <a:buChar char="●"/>
            </a:pPr>
            <a:r>
              <a:rPr lang="zh-TW" dirty="0">
                <a:solidFill>
                  <a:schemeClr val="dk1"/>
                </a:solidFill>
              </a:rPr>
              <a:t>Problem</a:t>
            </a:r>
            <a:endParaRPr dirty="0">
              <a:solidFill>
                <a:schemeClr val="dk1"/>
              </a:solidFill>
            </a:endParaRPr>
          </a:p>
          <a:p>
            <a:pPr marL="914400" lvl="1" indent="-317500" algn="l" rtl="0">
              <a:spcBef>
                <a:spcPts val="0"/>
              </a:spcBef>
              <a:spcAft>
                <a:spcPts val="0"/>
              </a:spcAft>
              <a:buClr>
                <a:schemeClr val="dk1"/>
              </a:buClr>
              <a:buSzPts val="1400"/>
              <a:buChar char="○"/>
            </a:pPr>
            <a:r>
              <a:rPr lang="zh-TW" dirty="0">
                <a:solidFill>
                  <a:schemeClr val="dk1"/>
                </a:solidFill>
              </a:rPr>
              <a:t>Previous dynamic convolutions lack of frequency diversity in their parallel weights.</a:t>
            </a:r>
            <a:endParaRPr dirty="0">
              <a:solidFill>
                <a:schemeClr val="dk1"/>
              </a:solidFill>
            </a:endParaRPr>
          </a:p>
          <a:p>
            <a:pPr marL="914400" lvl="1" indent="-317500" algn="l" rtl="0">
              <a:spcBef>
                <a:spcPts val="0"/>
              </a:spcBef>
              <a:spcAft>
                <a:spcPts val="0"/>
              </a:spcAft>
              <a:buClr>
                <a:schemeClr val="dk1"/>
              </a:buClr>
              <a:buSzPts val="1400"/>
              <a:buChar char="○"/>
            </a:pPr>
            <a:r>
              <a:rPr lang="zh-TW" dirty="0">
                <a:solidFill>
                  <a:schemeClr val="dk1"/>
                </a:solidFill>
              </a:rPr>
              <a:t>Parallel weights of previous methods shows high similarity in parameter space. </a:t>
            </a:r>
            <a:endParaRPr dirty="0">
              <a:solidFill>
                <a:schemeClr val="dk1"/>
              </a:solidFill>
            </a:endParaRPr>
          </a:p>
          <a:p>
            <a:pPr marL="914400" lvl="1" indent="-317500" algn="l" rtl="0">
              <a:spcBef>
                <a:spcPts val="0"/>
              </a:spcBef>
              <a:spcAft>
                <a:spcPts val="0"/>
              </a:spcAft>
              <a:buClr>
                <a:schemeClr val="dk1"/>
              </a:buClr>
              <a:buSzPts val="1400"/>
              <a:buChar char="○"/>
            </a:pPr>
            <a:r>
              <a:rPr lang="zh-TW" dirty="0">
                <a:solidFill>
                  <a:schemeClr val="dk1"/>
                </a:solidFill>
              </a:rPr>
              <a:t>Despite a significant increase in parameters, the model’s ability improves little.</a:t>
            </a:r>
            <a:endParaRPr dirty="0">
              <a:solidFill>
                <a:schemeClr val="dk1"/>
              </a:solidFill>
            </a:endParaRPr>
          </a:p>
          <a:p>
            <a:pPr marL="457200" lvl="0" indent="-342900" algn="l" rtl="0">
              <a:spcBef>
                <a:spcPts val="0"/>
              </a:spcBef>
              <a:spcAft>
                <a:spcPts val="0"/>
              </a:spcAft>
              <a:buClr>
                <a:schemeClr val="dk1"/>
              </a:buClr>
              <a:buSzPts val="1800"/>
              <a:buChar char="●"/>
            </a:pPr>
            <a:r>
              <a:rPr lang="zh-TW" dirty="0">
                <a:solidFill>
                  <a:schemeClr val="dk1"/>
                </a:solidFill>
              </a:rPr>
              <a:t>Contribution</a:t>
            </a:r>
            <a:endParaRPr dirty="0">
              <a:solidFill>
                <a:schemeClr val="dk1"/>
              </a:solidFill>
            </a:endParaRPr>
          </a:p>
          <a:p>
            <a:pPr marL="914400" lvl="1" indent="-317500" algn="l" rtl="0">
              <a:spcBef>
                <a:spcPts val="0"/>
              </a:spcBef>
              <a:spcAft>
                <a:spcPts val="0"/>
              </a:spcAft>
              <a:buClr>
                <a:schemeClr val="dk1"/>
              </a:buClr>
              <a:buSzPts val="1400"/>
              <a:buChar char="○"/>
            </a:pPr>
            <a:r>
              <a:rPr lang="zh-TW" dirty="0">
                <a:solidFill>
                  <a:schemeClr val="dk1"/>
                </a:solidFill>
              </a:rPr>
              <a:t>Propose FDConv, a novel dynamic convolution aim to enhance frequency adaptability.</a:t>
            </a:r>
            <a:endParaRPr dirty="0">
              <a:solidFill>
                <a:schemeClr val="dk1"/>
              </a:solidFill>
            </a:endParaRPr>
          </a:p>
        </p:txBody>
      </p:sp>
      <p:sp>
        <p:nvSpPr>
          <p:cNvPr id="77" name="Google Shape;7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4</a:t>
            </a:fld>
            <a:endParaRPr/>
          </a:p>
        </p:txBody>
      </p:sp>
      <p:pic>
        <p:nvPicPr>
          <p:cNvPr id="78" name="Google Shape;78;p16"/>
          <p:cNvPicPr preferRelativeResize="0"/>
          <p:nvPr/>
        </p:nvPicPr>
        <p:blipFill>
          <a:blip r:embed="rId3">
            <a:alphaModFix/>
          </a:blip>
          <a:stretch>
            <a:fillRect/>
          </a:stretch>
        </p:blipFill>
        <p:spPr>
          <a:xfrm>
            <a:off x="441175" y="3459276"/>
            <a:ext cx="4456475" cy="1684224"/>
          </a:xfrm>
          <a:prstGeom prst="rect">
            <a:avLst/>
          </a:prstGeom>
          <a:noFill/>
          <a:ln>
            <a:noFill/>
          </a:ln>
        </p:spPr>
      </p:pic>
      <p:pic>
        <p:nvPicPr>
          <p:cNvPr id="79" name="Google Shape;79;p16"/>
          <p:cNvPicPr preferRelativeResize="0"/>
          <p:nvPr/>
        </p:nvPicPr>
        <p:blipFill rotWithShape="1">
          <a:blip r:embed="rId4">
            <a:alphaModFix/>
          </a:blip>
          <a:srcRect l="1371"/>
          <a:stretch/>
        </p:blipFill>
        <p:spPr>
          <a:xfrm>
            <a:off x="4897650" y="3434125"/>
            <a:ext cx="3934650" cy="17093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7"/>
          <p:cNvSpPr txBox="1">
            <a:spLocks noGrp="1"/>
          </p:cNvSpPr>
          <p:nvPr>
            <p:ph type="title"/>
          </p:nvPr>
        </p:nvSpPr>
        <p:spPr>
          <a:xfrm>
            <a:off x="379000" y="445025"/>
            <a:ext cx="84534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Outline</a:t>
            </a:r>
            <a:endParaRPr/>
          </a:p>
        </p:txBody>
      </p:sp>
      <p:sp>
        <p:nvSpPr>
          <p:cNvPr id="85" name="Google Shape;85;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lt2"/>
              </a:buClr>
              <a:buSzPts val="1800"/>
              <a:buChar char="●"/>
            </a:pPr>
            <a:r>
              <a:rPr lang="zh-TW">
                <a:solidFill>
                  <a:schemeClr val="lt2"/>
                </a:solidFill>
              </a:rPr>
              <a:t>Introduction</a:t>
            </a:r>
            <a:endParaRPr>
              <a:solidFill>
                <a:schemeClr val="lt2"/>
              </a:solidFill>
            </a:endParaRPr>
          </a:p>
          <a:p>
            <a:pPr marL="457200" lvl="0" indent="-342900" algn="l" rtl="0">
              <a:spcBef>
                <a:spcPts val="0"/>
              </a:spcBef>
              <a:spcAft>
                <a:spcPts val="0"/>
              </a:spcAft>
              <a:buClr>
                <a:schemeClr val="dk1"/>
              </a:buClr>
              <a:buSzPts val="1800"/>
              <a:buChar char="●"/>
            </a:pPr>
            <a:r>
              <a:rPr lang="zh-TW">
                <a:solidFill>
                  <a:schemeClr val="dk1"/>
                </a:solidFill>
              </a:rPr>
              <a:t>Related Work</a:t>
            </a:r>
            <a:endParaRPr>
              <a:solidFill>
                <a:schemeClr val="dk1"/>
              </a:solidFill>
            </a:endParaRPr>
          </a:p>
          <a:p>
            <a:pPr marL="457200" lvl="0" indent="-342900" algn="l" rtl="0">
              <a:spcBef>
                <a:spcPts val="0"/>
              </a:spcBef>
              <a:spcAft>
                <a:spcPts val="0"/>
              </a:spcAft>
              <a:buClr>
                <a:schemeClr val="lt2"/>
              </a:buClr>
              <a:buSzPts val="1800"/>
              <a:buChar char="●"/>
            </a:pPr>
            <a:r>
              <a:rPr lang="zh-TW">
                <a:solidFill>
                  <a:schemeClr val="lt2"/>
                </a:solidFill>
              </a:rPr>
              <a:t>Method</a:t>
            </a:r>
            <a:endParaRPr>
              <a:solidFill>
                <a:schemeClr val="lt2"/>
              </a:solidFill>
            </a:endParaRPr>
          </a:p>
          <a:p>
            <a:pPr marL="457200" lvl="0" indent="-342900" algn="l" rtl="0">
              <a:spcBef>
                <a:spcPts val="0"/>
              </a:spcBef>
              <a:spcAft>
                <a:spcPts val="0"/>
              </a:spcAft>
              <a:buClr>
                <a:schemeClr val="lt2"/>
              </a:buClr>
              <a:buSzPts val="1800"/>
              <a:buChar char="●"/>
            </a:pPr>
            <a:r>
              <a:rPr lang="zh-TW">
                <a:solidFill>
                  <a:schemeClr val="lt2"/>
                </a:solidFill>
              </a:rPr>
              <a:t>Experiments</a:t>
            </a:r>
            <a:endParaRPr>
              <a:solidFill>
                <a:schemeClr val="lt2"/>
              </a:solidFill>
            </a:endParaRPr>
          </a:p>
          <a:p>
            <a:pPr marL="457200" lvl="0" indent="-342900" algn="l" rtl="0">
              <a:spcBef>
                <a:spcPts val="0"/>
              </a:spcBef>
              <a:spcAft>
                <a:spcPts val="0"/>
              </a:spcAft>
              <a:buClr>
                <a:schemeClr val="lt2"/>
              </a:buClr>
              <a:buSzPts val="1800"/>
              <a:buChar char="●"/>
            </a:pPr>
            <a:r>
              <a:rPr lang="zh-TW">
                <a:solidFill>
                  <a:schemeClr val="lt2"/>
                </a:solidFill>
              </a:rPr>
              <a:t>Conclusion</a:t>
            </a:r>
            <a:endParaRPr>
              <a:solidFill>
                <a:schemeClr val="lt2"/>
              </a:solidFill>
            </a:endParaRPr>
          </a:p>
        </p:txBody>
      </p:sp>
      <p:sp>
        <p:nvSpPr>
          <p:cNvPr id="86" name="Google Shape;86;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8"/>
          <p:cNvSpPr txBox="1">
            <a:spLocks noGrp="1"/>
          </p:cNvSpPr>
          <p:nvPr>
            <p:ph type="title"/>
          </p:nvPr>
        </p:nvSpPr>
        <p:spPr>
          <a:xfrm>
            <a:off x="441175" y="421475"/>
            <a:ext cx="31275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Related Work</a:t>
            </a:r>
            <a:endParaRPr/>
          </a:p>
        </p:txBody>
      </p:sp>
      <p:sp>
        <p:nvSpPr>
          <p:cNvPr id="92" name="Google Shape;92;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a:solidFill>
                  <a:schemeClr val="dk1"/>
                </a:solidFill>
              </a:rPr>
              <a:t>CondConv: Conditionally Parameterized Convolutions for Efficient Inference, NeurIPS 2019, Yang et al.</a:t>
            </a:r>
            <a:endParaRPr>
              <a:solidFill>
                <a:schemeClr val="dk1"/>
              </a:solidFill>
            </a:endParaRPr>
          </a:p>
          <a:p>
            <a:pPr marL="457200" lvl="0" indent="-342900" algn="l" rtl="0">
              <a:spcBef>
                <a:spcPts val="0"/>
              </a:spcBef>
              <a:spcAft>
                <a:spcPts val="0"/>
              </a:spcAft>
              <a:buClr>
                <a:schemeClr val="dk1"/>
              </a:buClr>
              <a:buSzPts val="1800"/>
              <a:buChar char="●"/>
            </a:pPr>
            <a:r>
              <a:rPr lang="zh-TW">
                <a:solidFill>
                  <a:schemeClr val="dk1"/>
                </a:solidFill>
              </a:rPr>
              <a:t>Omni-Dimensional Dynamic Convolution, ICLR 2022, Li et al.</a:t>
            </a:r>
            <a:endParaRPr>
              <a:solidFill>
                <a:schemeClr val="dk1"/>
              </a:solidFill>
            </a:endParaRPr>
          </a:p>
        </p:txBody>
      </p:sp>
      <p:sp>
        <p:nvSpPr>
          <p:cNvPr id="93" name="Google Shape;93;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9"/>
          <p:cNvSpPr txBox="1">
            <a:spLocks noGrp="1"/>
          </p:cNvSpPr>
          <p:nvPr>
            <p:ph type="title"/>
          </p:nvPr>
        </p:nvSpPr>
        <p:spPr>
          <a:xfrm>
            <a:off x="441175" y="421475"/>
            <a:ext cx="31275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Related Work</a:t>
            </a:r>
            <a:endParaRPr/>
          </a:p>
        </p:txBody>
      </p:sp>
      <p:sp>
        <p:nvSpPr>
          <p:cNvPr id="99" name="Google Shape;99;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a:solidFill>
                  <a:schemeClr val="dk1"/>
                </a:solidFill>
              </a:rPr>
              <a:t>CondConv: Conditionally Parameterized Convolutions for Efficient Inference, NeurIPS 2019, Yang et al.</a:t>
            </a:r>
            <a:endParaRPr>
              <a:solidFill>
                <a:schemeClr val="dk1"/>
              </a:solidFill>
            </a:endParaRPr>
          </a:p>
          <a:p>
            <a:pPr marL="457200" lvl="0" indent="-342900" algn="l" rtl="0">
              <a:spcBef>
                <a:spcPts val="0"/>
              </a:spcBef>
              <a:spcAft>
                <a:spcPts val="0"/>
              </a:spcAft>
              <a:buClr>
                <a:schemeClr val="lt2"/>
              </a:buClr>
              <a:buSzPts val="1800"/>
              <a:buChar char="●"/>
            </a:pPr>
            <a:r>
              <a:rPr lang="zh-TW">
                <a:solidFill>
                  <a:schemeClr val="lt2"/>
                </a:solidFill>
              </a:rPr>
              <a:t>Omni-Dimensional Dynamic Convolution, ICLR 2022, Li et al.</a:t>
            </a:r>
            <a:endParaRPr>
              <a:solidFill>
                <a:schemeClr val="lt2"/>
              </a:solidFill>
            </a:endParaRPr>
          </a:p>
          <a:p>
            <a:pPr marL="0" lvl="0" indent="0" algn="l" rtl="0">
              <a:spcBef>
                <a:spcPts val="1200"/>
              </a:spcBef>
              <a:spcAft>
                <a:spcPts val="1200"/>
              </a:spcAft>
              <a:buNone/>
            </a:pPr>
            <a:endParaRPr>
              <a:solidFill>
                <a:schemeClr val="lt2"/>
              </a:solidFill>
            </a:endParaRPr>
          </a:p>
        </p:txBody>
      </p:sp>
      <p:sp>
        <p:nvSpPr>
          <p:cNvPr id="100" name="Google Shape;100;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0"/>
          <p:cNvSpPr txBox="1">
            <a:spLocks noGrp="1"/>
          </p:cNvSpPr>
          <p:nvPr>
            <p:ph type="title"/>
          </p:nvPr>
        </p:nvSpPr>
        <p:spPr>
          <a:xfrm>
            <a:off x="441175" y="421475"/>
            <a:ext cx="4725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Introduction (Yang et al.)</a:t>
            </a:r>
            <a:endParaRPr/>
          </a:p>
        </p:txBody>
      </p:sp>
      <p:sp>
        <p:nvSpPr>
          <p:cNvPr id="106" name="Google Shape;106;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dirty="0">
                <a:solidFill>
                  <a:schemeClr val="dk1"/>
                </a:solidFill>
              </a:rPr>
              <a:t>Task</a:t>
            </a:r>
            <a:endParaRPr dirty="0">
              <a:solidFill>
                <a:schemeClr val="dk1"/>
              </a:solidFill>
            </a:endParaRPr>
          </a:p>
          <a:p>
            <a:pPr marL="914400" lvl="1" indent="-317500" algn="l" rtl="0">
              <a:spcBef>
                <a:spcPts val="0"/>
              </a:spcBef>
              <a:spcAft>
                <a:spcPts val="0"/>
              </a:spcAft>
              <a:buClr>
                <a:schemeClr val="dk1"/>
              </a:buClr>
              <a:buSzPts val="1400"/>
              <a:buChar char="○"/>
            </a:pPr>
            <a:r>
              <a:rPr lang="zh-TW" dirty="0">
                <a:solidFill>
                  <a:schemeClr val="dk1"/>
                </a:solidFill>
              </a:rPr>
              <a:t>Convolution block of image classification / object detection</a:t>
            </a:r>
            <a:endParaRPr dirty="0">
              <a:solidFill>
                <a:schemeClr val="dk1"/>
              </a:solidFill>
            </a:endParaRPr>
          </a:p>
          <a:p>
            <a:pPr marL="457200" lvl="0" indent="-342900" algn="l" rtl="0">
              <a:spcBef>
                <a:spcPts val="0"/>
              </a:spcBef>
              <a:spcAft>
                <a:spcPts val="0"/>
              </a:spcAft>
              <a:buClr>
                <a:schemeClr val="dk1"/>
              </a:buClr>
              <a:buSzPts val="1800"/>
              <a:buChar char="●"/>
            </a:pPr>
            <a:r>
              <a:rPr lang="zh-TW" dirty="0">
                <a:solidFill>
                  <a:schemeClr val="dk1"/>
                </a:solidFill>
              </a:rPr>
              <a:t>Problems</a:t>
            </a:r>
            <a:endParaRPr dirty="0">
              <a:solidFill>
                <a:schemeClr val="dk1"/>
              </a:solidFill>
            </a:endParaRPr>
          </a:p>
          <a:p>
            <a:pPr marL="914400" lvl="1" indent="-317500" algn="l" rtl="0">
              <a:spcBef>
                <a:spcPts val="0"/>
              </a:spcBef>
              <a:spcAft>
                <a:spcPts val="0"/>
              </a:spcAft>
              <a:buClr>
                <a:schemeClr val="dk1"/>
              </a:buClr>
              <a:buSzPts val="1400"/>
              <a:buChar char="○"/>
            </a:pPr>
            <a:r>
              <a:rPr lang="zh-TW" dirty="0">
                <a:solidFill>
                  <a:schemeClr val="dk1"/>
                </a:solidFill>
              </a:rPr>
              <a:t>In traditional CNN, the larger capacity means more layers or larger weight tensor, causing high computational cost during inference.</a:t>
            </a:r>
            <a:endParaRPr dirty="0">
              <a:solidFill>
                <a:schemeClr val="dk1"/>
              </a:solidFill>
            </a:endParaRPr>
          </a:p>
          <a:p>
            <a:pPr marL="457200" lvl="0" indent="-342900" algn="l" rtl="0">
              <a:spcBef>
                <a:spcPts val="0"/>
              </a:spcBef>
              <a:spcAft>
                <a:spcPts val="0"/>
              </a:spcAft>
              <a:buClr>
                <a:schemeClr val="dk1"/>
              </a:buClr>
              <a:buSzPts val="1800"/>
              <a:buChar char="●"/>
            </a:pPr>
            <a:r>
              <a:rPr lang="zh-TW" dirty="0">
                <a:solidFill>
                  <a:schemeClr val="dk1"/>
                </a:solidFill>
              </a:rPr>
              <a:t>Contributions</a:t>
            </a:r>
            <a:endParaRPr dirty="0">
              <a:solidFill>
                <a:schemeClr val="dk1"/>
              </a:solidFill>
            </a:endParaRPr>
          </a:p>
          <a:p>
            <a:pPr marL="914400" lvl="1" indent="-317500" algn="l" rtl="0">
              <a:spcBef>
                <a:spcPts val="0"/>
              </a:spcBef>
              <a:spcAft>
                <a:spcPts val="0"/>
              </a:spcAft>
              <a:buClr>
                <a:schemeClr val="dk1"/>
              </a:buClr>
              <a:buSzPts val="1400"/>
              <a:buChar char="○"/>
            </a:pPr>
            <a:r>
              <a:rPr lang="zh-TW" dirty="0">
                <a:solidFill>
                  <a:schemeClr val="dk1"/>
                </a:solidFill>
              </a:rPr>
              <a:t>Propose CondConv, which compute convolutional kernels as a function of the input, leverage the capacity while maintaining efficient inference.</a:t>
            </a:r>
            <a:endParaRPr dirty="0">
              <a:solidFill>
                <a:schemeClr val="dk1"/>
              </a:solidFill>
            </a:endParaRPr>
          </a:p>
        </p:txBody>
      </p:sp>
      <p:sp>
        <p:nvSpPr>
          <p:cNvPr id="107" name="Google Shape;107;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8</a:t>
            </a:fld>
            <a:endParaRPr/>
          </a:p>
        </p:txBody>
      </p:sp>
      <p:pic>
        <p:nvPicPr>
          <p:cNvPr id="108" name="Google Shape;108;p20"/>
          <p:cNvPicPr preferRelativeResize="0"/>
          <p:nvPr/>
        </p:nvPicPr>
        <p:blipFill>
          <a:blip r:embed="rId3">
            <a:alphaModFix/>
          </a:blip>
          <a:stretch>
            <a:fillRect/>
          </a:stretch>
        </p:blipFill>
        <p:spPr>
          <a:xfrm>
            <a:off x="2551275" y="3418025"/>
            <a:ext cx="4414095" cy="16387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1"/>
          <p:cNvSpPr txBox="1">
            <a:spLocks noGrp="1"/>
          </p:cNvSpPr>
          <p:nvPr>
            <p:ph type="title"/>
          </p:nvPr>
        </p:nvSpPr>
        <p:spPr>
          <a:xfrm>
            <a:off x="441175" y="421475"/>
            <a:ext cx="4725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Method (Yang et al.)</a:t>
            </a:r>
            <a:endParaRPr/>
          </a:p>
        </p:txBody>
      </p:sp>
      <p:sp>
        <p:nvSpPr>
          <p:cNvPr id="114" name="Google Shape;114;p21"/>
          <p:cNvSpPr txBox="1">
            <a:spLocks noGrp="1"/>
          </p:cNvSpPr>
          <p:nvPr>
            <p:ph type="body" idx="1"/>
          </p:nvPr>
        </p:nvSpPr>
        <p:spPr>
          <a:xfrm>
            <a:off x="311700" y="1152475"/>
            <a:ext cx="88323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a:solidFill>
                  <a:schemeClr val="dk1"/>
                </a:solidFill>
              </a:rPr>
              <a:t>The final weight is linear combination of parallel weights and routing function:</a:t>
            </a:r>
            <a:endParaRPr>
              <a:solidFill>
                <a:schemeClr val="dk1"/>
              </a:solidFill>
            </a:endParaRPr>
          </a:p>
          <a:p>
            <a:pPr marL="457200" lvl="0" indent="0" algn="l" rtl="0">
              <a:spcBef>
                <a:spcPts val="1200"/>
              </a:spcBef>
              <a:spcAft>
                <a:spcPts val="0"/>
              </a:spcAft>
              <a:buNone/>
            </a:pPr>
            <a:endParaRPr>
              <a:solidFill>
                <a:schemeClr val="dk1"/>
              </a:solidFill>
            </a:endParaRPr>
          </a:p>
          <a:p>
            <a:pPr marL="457200" lvl="0" indent="-342900" algn="l" rtl="0">
              <a:spcBef>
                <a:spcPts val="1200"/>
              </a:spcBef>
              <a:spcAft>
                <a:spcPts val="0"/>
              </a:spcAft>
              <a:buClr>
                <a:schemeClr val="dk1"/>
              </a:buClr>
              <a:buSzPts val="1800"/>
              <a:buChar char="●"/>
            </a:pPr>
            <a:r>
              <a:rPr lang="zh-TW">
                <a:solidFill>
                  <a:schemeClr val="dk1"/>
                </a:solidFill>
              </a:rPr>
              <a:t>The routing function is computed as linear of GAP of input followed by sigmoid:</a:t>
            </a:r>
            <a:endParaRPr>
              <a:solidFill>
                <a:schemeClr val="dk1"/>
              </a:solidFill>
            </a:endParaRPr>
          </a:p>
          <a:p>
            <a:pPr marL="0" lvl="0" indent="0" algn="l" rtl="0">
              <a:spcBef>
                <a:spcPts val="1200"/>
              </a:spcBef>
              <a:spcAft>
                <a:spcPts val="0"/>
              </a:spcAft>
              <a:buNone/>
            </a:pPr>
            <a:r>
              <a:rPr lang="zh-TW">
                <a:solidFill>
                  <a:schemeClr val="dk1"/>
                </a:solidFill>
              </a:rPr>
              <a:t>	</a:t>
            </a:r>
            <a:endParaRPr>
              <a:solidFill>
                <a:schemeClr val="dk1"/>
              </a:solidFill>
            </a:endParaRPr>
          </a:p>
          <a:p>
            <a:pPr marL="457200" lvl="0" indent="-342900" algn="l" rtl="0">
              <a:spcBef>
                <a:spcPts val="1200"/>
              </a:spcBef>
              <a:spcAft>
                <a:spcPts val="0"/>
              </a:spcAft>
              <a:buClr>
                <a:schemeClr val="dk1"/>
              </a:buClr>
              <a:buSzPts val="1800"/>
              <a:buChar char="●"/>
            </a:pPr>
            <a:r>
              <a:rPr lang="zh-TW">
                <a:solidFill>
                  <a:schemeClr val="dk1"/>
                </a:solidFill>
              </a:rPr>
              <a:t>It is mathematically equivalent to the mixture of experts approach with soft routing function.</a:t>
            </a:r>
            <a:endParaRPr>
              <a:solidFill>
                <a:schemeClr val="dk1"/>
              </a:solidFill>
            </a:endParaRPr>
          </a:p>
        </p:txBody>
      </p:sp>
      <p:sp>
        <p:nvSpPr>
          <p:cNvPr id="115" name="Google Shape;115;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9</a:t>
            </a:fld>
            <a:endParaRPr/>
          </a:p>
        </p:txBody>
      </p:sp>
      <p:pic>
        <p:nvPicPr>
          <p:cNvPr id="116" name="Google Shape;116;p21"/>
          <p:cNvPicPr preferRelativeResize="0"/>
          <p:nvPr/>
        </p:nvPicPr>
        <p:blipFill>
          <a:blip r:embed="rId3">
            <a:alphaModFix/>
          </a:blip>
          <a:stretch>
            <a:fillRect/>
          </a:stretch>
        </p:blipFill>
        <p:spPr>
          <a:xfrm>
            <a:off x="1014879" y="1653332"/>
            <a:ext cx="4725599" cy="388293"/>
          </a:xfrm>
          <a:prstGeom prst="rect">
            <a:avLst/>
          </a:prstGeom>
          <a:noFill/>
          <a:ln>
            <a:noFill/>
          </a:ln>
        </p:spPr>
      </p:pic>
      <p:pic>
        <p:nvPicPr>
          <p:cNvPr id="117" name="Google Shape;117;p21"/>
          <p:cNvPicPr preferRelativeResize="0"/>
          <p:nvPr/>
        </p:nvPicPr>
        <p:blipFill>
          <a:blip r:embed="rId4">
            <a:alphaModFix/>
          </a:blip>
          <a:stretch>
            <a:fillRect/>
          </a:stretch>
        </p:blipFill>
        <p:spPr>
          <a:xfrm>
            <a:off x="6324625" y="1650675"/>
            <a:ext cx="1301882" cy="393600"/>
          </a:xfrm>
          <a:prstGeom prst="rect">
            <a:avLst/>
          </a:prstGeom>
          <a:noFill/>
          <a:ln>
            <a:noFill/>
          </a:ln>
        </p:spPr>
      </p:pic>
      <p:pic>
        <p:nvPicPr>
          <p:cNvPr id="118" name="Google Shape;118;p21"/>
          <p:cNvPicPr preferRelativeResize="0"/>
          <p:nvPr/>
        </p:nvPicPr>
        <p:blipFill>
          <a:blip r:embed="rId5">
            <a:alphaModFix/>
          </a:blip>
          <a:stretch>
            <a:fillRect/>
          </a:stretch>
        </p:blipFill>
        <p:spPr>
          <a:xfrm>
            <a:off x="1014875" y="2683673"/>
            <a:ext cx="4377525" cy="354002"/>
          </a:xfrm>
          <a:prstGeom prst="rect">
            <a:avLst/>
          </a:prstGeom>
          <a:noFill/>
          <a:ln>
            <a:noFill/>
          </a:ln>
        </p:spPr>
      </p:pic>
      <p:pic>
        <p:nvPicPr>
          <p:cNvPr id="119" name="Google Shape;119;p21"/>
          <p:cNvPicPr preferRelativeResize="0"/>
          <p:nvPr/>
        </p:nvPicPr>
        <p:blipFill>
          <a:blip r:embed="rId6">
            <a:alphaModFix/>
          </a:blip>
          <a:stretch>
            <a:fillRect/>
          </a:stretch>
        </p:blipFill>
        <p:spPr>
          <a:xfrm>
            <a:off x="678737" y="3775175"/>
            <a:ext cx="7786517" cy="393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2"/>
          <p:cNvSpPr txBox="1">
            <a:spLocks noGrp="1"/>
          </p:cNvSpPr>
          <p:nvPr>
            <p:ph type="title"/>
          </p:nvPr>
        </p:nvSpPr>
        <p:spPr>
          <a:xfrm>
            <a:off x="441175" y="433245"/>
            <a:ext cx="4725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Experiments (Yang et al.)</a:t>
            </a:r>
            <a:endParaRPr/>
          </a:p>
        </p:txBody>
      </p:sp>
      <p:sp>
        <p:nvSpPr>
          <p:cNvPr id="125" name="Google Shape;125;p22"/>
          <p:cNvSpPr txBox="1">
            <a:spLocks noGrp="1"/>
          </p:cNvSpPr>
          <p:nvPr>
            <p:ph type="body" idx="1"/>
          </p:nvPr>
        </p:nvSpPr>
        <p:spPr>
          <a:xfrm>
            <a:off x="311700" y="1152475"/>
            <a:ext cx="8520600" cy="3846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a:solidFill>
                  <a:schemeClr val="dk1"/>
                </a:solidFill>
              </a:rPr>
              <a:t>ImageNet Classification</a:t>
            </a:r>
            <a:endParaRPr>
              <a:solidFill>
                <a:schemeClr val="dk1"/>
              </a:solidFill>
            </a:endParaRPr>
          </a:p>
        </p:txBody>
      </p:sp>
      <p:sp>
        <p:nvSpPr>
          <p:cNvPr id="126" name="Google Shape;126;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10</a:t>
            </a:fld>
            <a:endParaRPr/>
          </a:p>
        </p:txBody>
      </p:sp>
      <p:pic>
        <p:nvPicPr>
          <p:cNvPr id="127" name="Google Shape;127;p22"/>
          <p:cNvPicPr preferRelativeResize="0"/>
          <p:nvPr/>
        </p:nvPicPr>
        <p:blipFill>
          <a:blip r:embed="rId3">
            <a:alphaModFix/>
          </a:blip>
          <a:stretch>
            <a:fillRect/>
          </a:stretch>
        </p:blipFill>
        <p:spPr>
          <a:xfrm>
            <a:off x="441175" y="1804625"/>
            <a:ext cx="3539975" cy="2542600"/>
          </a:xfrm>
          <a:prstGeom prst="rect">
            <a:avLst/>
          </a:prstGeom>
          <a:noFill/>
          <a:ln>
            <a:noFill/>
          </a:ln>
        </p:spPr>
      </p:pic>
      <p:pic>
        <p:nvPicPr>
          <p:cNvPr id="128" name="Google Shape;128;p22"/>
          <p:cNvPicPr preferRelativeResize="0"/>
          <p:nvPr/>
        </p:nvPicPr>
        <p:blipFill>
          <a:blip r:embed="rId4">
            <a:alphaModFix/>
          </a:blip>
          <a:stretch>
            <a:fillRect/>
          </a:stretch>
        </p:blipFill>
        <p:spPr>
          <a:xfrm>
            <a:off x="3981145" y="1152475"/>
            <a:ext cx="4655776" cy="1165450"/>
          </a:xfrm>
          <a:prstGeom prst="rect">
            <a:avLst/>
          </a:prstGeom>
          <a:noFill/>
          <a:ln>
            <a:noFill/>
          </a:ln>
        </p:spPr>
      </p:pic>
      <p:graphicFrame>
        <p:nvGraphicFramePr>
          <p:cNvPr id="129" name="Google Shape;129;p22"/>
          <p:cNvGraphicFramePr/>
          <p:nvPr/>
        </p:nvGraphicFramePr>
        <p:xfrm>
          <a:off x="3981150" y="2464450"/>
          <a:ext cx="4851125" cy="1839525"/>
        </p:xfrm>
        <a:graphic>
          <a:graphicData uri="http://schemas.openxmlformats.org/drawingml/2006/table">
            <a:tbl>
              <a:tblPr>
                <a:noFill/>
                <a:tableStyleId>{4165FB41-F0B7-4DB0-B175-397EDDB2E6A2}</a:tableStyleId>
              </a:tblPr>
              <a:tblGrid>
                <a:gridCol w="970225">
                  <a:extLst>
                    <a:ext uri="{9D8B030D-6E8A-4147-A177-3AD203B41FA5}">
                      <a16:colId xmlns:a16="http://schemas.microsoft.com/office/drawing/2014/main" val="20000"/>
                    </a:ext>
                  </a:extLst>
                </a:gridCol>
                <a:gridCol w="970225">
                  <a:extLst>
                    <a:ext uri="{9D8B030D-6E8A-4147-A177-3AD203B41FA5}">
                      <a16:colId xmlns:a16="http://schemas.microsoft.com/office/drawing/2014/main" val="20001"/>
                    </a:ext>
                  </a:extLst>
                </a:gridCol>
                <a:gridCol w="970225">
                  <a:extLst>
                    <a:ext uri="{9D8B030D-6E8A-4147-A177-3AD203B41FA5}">
                      <a16:colId xmlns:a16="http://schemas.microsoft.com/office/drawing/2014/main" val="20002"/>
                    </a:ext>
                  </a:extLst>
                </a:gridCol>
                <a:gridCol w="970225">
                  <a:extLst>
                    <a:ext uri="{9D8B030D-6E8A-4147-A177-3AD203B41FA5}">
                      <a16:colId xmlns:a16="http://schemas.microsoft.com/office/drawing/2014/main" val="20003"/>
                    </a:ext>
                  </a:extLst>
                </a:gridCol>
                <a:gridCol w="970225">
                  <a:extLst>
                    <a:ext uri="{9D8B030D-6E8A-4147-A177-3AD203B41FA5}">
                      <a16:colId xmlns:a16="http://schemas.microsoft.com/office/drawing/2014/main" val="20004"/>
                    </a:ext>
                  </a:extLst>
                </a:gridCol>
              </a:tblGrid>
              <a:tr h="5934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zh-TW" sz="900"/>
                        <a:t>Baseline</a:t>
                      </a:r>
                      <a:endParaRPr sz="900"/>
                    </a:p>
                    <a:p>
                      <a:pPr marL="0" lvl="0" indent="0" algn="l" rtl="0">
                        <a:spcBef>
                          <a:spcPts val="0"/>
                        </a:spcBef>
                        <a:spcAft>
                          <a:spcPts val="0"/>
                        </a:spcAft>
                        <a:buNone/>
                      </a:pPr>
                      <a:r>
                        <a:rPr lang="zh-TW" sz="900"/>
                        <a:t>MADDs (M)</a:t>
                      </a:r>
                      <a:endParaRPr sz="900"/>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zh-TW" sz="900">
                          <a:solidFill>
                            <a:schemeClr val="dk1"/>
                          </a:solidFill>
                        </a:rPr>
                        <a:t>Baseline</a:t>
                      </a:r>
                      <a:endParaRPr sz="900"/>
                    </a:p>
                    <a:p>
                      <a:pPr marL="0" lvl="0" indent="0" algn="l" rtl="0">
                        <a:spcBef>
                          <a:spcPts val="0"/>
                        </a:spcBef>
                        <a:spcAft>
                          <a:spcPts val="0"/>
                        </a:spcAft>
                        <a:buNone/>
                      </a:pPr>
                      <a:r>
                        <a:rPr lang="zh-TW" sz="900"/>
                        <a:t>Top-1 (%)</a:t>
                      </a:r>
                      <a:endParaRPr sz="9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zh-TW" sz="900"/>
                        <a:t>CondConv</a:t>
                      </a:r>
                      <a:endParaRPr sz="900"/>
                    </a:p>
                    <a:p>
                      <a:pPr marL="0" lvl="0" indent="0" algn="l" rtl="0">
                        <a:spcBef>
                          <a:spcPts val="0"/>
                        </a:spcBef>
                        <a:spcAft>
                          <a:spcPts val="0"/>
                        </a:spcAft>
                        <a:buNone/>
                      </a:pPr>
                      <a:r>
                        <a:rPr lang="zh-TW" sz="900"/>
                        <a:t>MADDs (M)</a:t>
                      </a:r>
                      <a:endParaRPr sz="9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zh-TW" sz="900">
                          <a:solidFill>
                            <a:schemeClr val="dk1"/>
                          </a:solidFill>
                        </a:rPr>
                        <a:t>CondConv</a:t>
                      </a:r>
                      <a:endParaRPr sz="900"/>
                    </a:p>
                    <a:p>
                      <a:pPr marL="0" lvl="0" indent="0" algn="l" rtl="0">
                        <a:spcBef>
                          <a:spcPts val="0"/>
                        </a:spcBef>
                        <a:spcAft>
                          <a:spcPts val="0"/>
                        </a:spcAft>
                        <a:buNone/>
                      </a:pPr>
                      <a:r>
                        <a:rPr lang="zh-TW" sz="900"/>
                        <a:t>Top-1 (%)</a:t>
                      </a:r>
                      <a:endParaRPr sz="9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415375">
                <a:tc>
                  <a:txBody>
                    <a:bodyPr/>
                    <a:lstStyle/>
                    <a:p>
                      <a:pPr marL="0" lvl="0" indent="0" algn="l" rtl="0">
                        <a:spcBef>
                          <a:spcPts val="0"/>
                        </a:spcBef>
                        <a:spcAft>
                          <a:spcPts val="0"/>
                        </a:spcAft>
                        <a:buNone/>
                      </a:pPr>
                      <a:r>
                        <a:rPr lang="zh-TW" sz="900"/>
                        <a:t>MobileNetV1 </a:t>
                      </a:r>
                      <a:endParaRPr sz="900"/>
                    </a:p>
                  </a:txBody>
                  <a:tcPr marL="91425" marR="91425" marT="91425" marB="91425"/>
                </a:tc>
                <a:tc>
                  <a:txBody>
                    <a:bodyPr/>
                    <a:lstStyle/>
                    <a:p>
                      <a:pPr marL="0" lvl="0" indent="0" algn="l" rtl="0">
                        <a:spcBef>
                          <a:spcPts val="0"/>
                        </a:spcBef>
                        <a:spcAft>
                          <a:spcPts val="0"/>
                        </a:spcAft>
                        <a:buNone/>
                      </a:pPr>
                      <a:r>
                        <a:rPr lang="zh-TW" sz="900"/>
                        <a:t>571 (1.0x)</a:t>
                      </a:r>
                      <a:endParaRPr sz="900"/>
                    </a:p>
                  </a:txBody>
                  <a:tcPr marL="91425" marR="91425" marT="91425" marB="91425"/>
                </a:tc>
                <a:tc>
                  <a:txBody>
                    <a:bodyPr/>
                    <a:lstStyle/>
                    <a:p>
                      <a:pPr marL="0" lvl="0" indent="0" algn="l" rtl="0">
                        <a:spcBef>
                          <a:spcPts val="0"/>
                        </a:spcBef>
                        <a:spcAft>
                          <a:spcPts val="0"/>
                        </a:spcAft>
                        <a:buNone/>
                      </a:pPr>
                      <a:r>
                        <a:rPr lang="zh-TW" sz="900"/>
                        <a:t>71.7 </a:t>
                      </a:r>
                      <a:r>
                        <a:rPr lang="zh-TW" sz="900">
                          <a:solidFill>
                            <a:schemeClr val="dk1"/>
                          </a:solidFill>
                        </a:rPr>
                        <a:t>(1.0x)</a:t>
                      </a:r>
                      <a:endParaRPr sz="900"/>
                    </a:p>
                  </a:txBody>
                  <a:tcPr marL="91425" marR="91425" marT="91425" marB="91425"/>
                </a:tc>
                <a:tc>
                  <a:txBody>
                    <a:bodyPr/>
                    <a:lstStyle/>
                    <a:p>
                      <a:pPr marL="0" lvl="0" indent="0" algn="l" rtl="0">
                        <a:spcBef>
                          <a:spcPts val="0"/>
                        </a:spcBef>
                        <a:spcAft>
                          <a:spcPts val="0"/>
                        </a:spcAft>
                        <a:buNone/>
                      </a:pPr>
                      <a:r>
                        <a:rPr lang="zh-TW" sz="900"/>
                        <a:t>190 </a:t>
                      </a:r>
                      <a:r>
                        <a:rPr lang="zh-TW" sz="900">
                          <a:solidFill>
                            <a:schemeClr val="dk1"/>
                          </a:solidFill>
                        </a:rPr>
                        <a:t>(0.5x)</a:t>
                      </a:r>
                      <a:endParaRPr sz="900"/>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spcBef>
                          <a:spcPts val="0"/>
                        </a:spcBef>
                        <a:spcAft>
                          <a:spcPts val="0"/>
                        </a:spcAft>
                        <a:buNone/>
                      </a:pPr>
                      <a:r>
                        <a:rPr lang="zh-TW" sz="900"/>
                        <a:t>71.6 </a:t>
                      </a:r>
                      <a:r>
                        <a:rPr lang="zh-TW" sz="900">
                          <a:solidFill>
                            <a:schemeClr val="dk1"/>
                          </a:solidFill>
                        </a:rPr>
                        <a:t>(0.5x)</a:t>
                      </a:r>
                      <a:endParaRPr sz="900"/>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1"/>
                  </a:ext>
                </a:extLst>
              </a:tr>
              <a:tr h="415375">
                <a:tc>
                  <a:txBody>
                    <a:bodyPr/>
                    <a:lstStyle/>
                    <a:p>
                      <a:pPr marL="0" lvl="0" indent="0" algn="l" rtl="0">
                        <a:spcBef>
                          <a:spcPts val="0"/>
                        </a:spcBef>
                        <a:spcAft>
                          <a:spcPts val="0"/>
                        </a:spcAft>
                        <a:buNone/>
                      </a:pPr>
                      <a:r>
                        <a:rPr lang="zh-TW" sz="900"/>
                        <a:t>MobileNetV2 </a:t>
                      </a:r>
                      <a:endParaRPr sz="900"/>
                    </a:p>
                  </a:txBody>
                  <a:tcPr marL="91425" marR="91425" marT="91425" marB="91425"/>
                </a:tc>
                <a:tc>
                  <a:txBody>
                    <a:bodyPr/>
                    <a:lstStyle/>
                    <a:p>
                      <a:pPr marL="0" lvl="0" indent="0" algn="l" rtl="0">
                        <a:spcBef>
                          <a:spcPts val="0"/>
                        </a:spcBef>
                        <a:spcAft>
                          <a:spcPts val="0"/>
                        </a:spcAft>
                        <a:buNone/>
                      </a:pPr>
                      <a:r>
                        <a:rPr lang="zh-TW" sz="900"/>
                        <a:t>585 </a:t>
                      </a:r>
                      <a:r>
                        <a:rPr lang="zh-TW" sz="900">
                          <a:solidFill>
                            <a:schemeClr val="dk1"/>
                          </a:solidFill>
                        </a:rPr>
                        <a:t>(1.4x)</a:t>
                      </a:r>
                      <a:endParaRPr sz="900"/>
                    </a:p>
                  </a:txBody>
                  <a:tcPr marL="91425" marR="91425" marT="91425" marB="91425"/>
                </a:tc>
                <a:tc>
                  <a:txBody>
                    <a:bodyPr/>
                    <a:lstStyle/>
                    <a:p>
                      <a:pPr marL="0" lvl="0" indent="0" algn="l" rtl="0">
                        <a:spcBef>
                          <a:spcPts val="0"/>
                        </a:spcBef>
                        <a:spcAft>
                          <a:spcPts val="0"/>
                        </a:spcAft>
                        <a:buNone/>
                      </a:pPr>
                      <a:r>
                        <a:rPr lang="zh-TW" sz="900"/>
                        <a:t>74.5</a:t>
                      </a:r>
                      <a:r>
                        <a:rPr lang="zh-TW" sz="900">
                          <a:solidFill>
                            <a:schemeClr val="dk1"/>
                          </a:solidFill>
                        </a:rPr>
                        <a:t> (1.4x)</a:t>
                      </a:r>
                      <a:endParaRPr sz="900"/>
                    </a:p>
                  </a:txBody>
                  <a:tcPr marL="91425" marR="91425" marT="91425" marB="91425"/>
                </a:tc>
                <a:tc>
                  <a:txBody>
                    <a:bodyPr/>
                    <a:lstStyle/>
                    <a:p>
                      <a:pPr marL="0" lvl="0" indent="0" algn="l" rtl="0">
                        <a:spcBef>
                          <a:spcPts val="0"/>
                        </a:spcBef>
                        <a:spcAft>
                          <a:spcPts val="0"/>
                        </a:spcAft>
                        <a:buNone/>
                      </a:pPr>
                      <a:r>
                        <a:rPr lang="zh-TW" sz="900"/>
                        <a:t>329</a:t>
                      </a:r>
                      <a:r>
                        <a:rPr lang="zh-TW" sz="900">
                          <a:solidFill>
                            <a:schemeClr val="dk1"/>
                          </a:solidFill>
                        </a:rPr>
                        <a:t> (1.0x)</a:t>
                      </a:r>
                      <a:endParaRPr sz="900"/>
                    </a:p>
                  </a:txBody>
                  <a:tcPr marL="91425" marR="91425" marT="91425" marB="91425"/>
                </a:tc>
                <a:tc>
                  <a:txBody>
                    <a:bodyPr/>
                    <a:lstStyle/>
                    <a:p>
                      <a:pPr marL="0" lvl="0" indent="0" algn="l" rtl="0">
                        <a:spcBef>
                          <a:spcPts val="0"/>
                        </a:spcBef>
                        <a:spcAft>
                          <a:spcPts val="0"/>
                        </a:spcAft>
                        <a:buNone/>
                      </a:pPr>
                      <a:r>
                        <a:rPr lang="zh-TW" sz="900"/>
                        <a:t>74.6</a:t>
                      </a:r>
                      <a:r>
                        <a:rPr lang="zh-TW" sz="900">
                          <a:solidFill>
                            <a:schemeClr val="dk1"/>
                          </a:solidFill>
                        </a:rPr>
                        <a:t> (1.0x)</a:t>
                      </a:r>
                      <a:endParaRPr sz="900"/>
                    </a:p>
                  </a:txBody>
                  <a:tcPr marL="91425" marR="91425" marT="91425" marB="91425"/>
                </a:tc>
                <a:extLst>
                  <a:ext uri="{0D108BD9-81ED-4DB2-BD59-A6C34878D82A}">
                    <a16:rowId xmlns:a16="http://schemas.microsoft.com/office/drawing/2014/main" val="10002"/>
                  </a:ext>
                </a:extLst>
              </a:tr>
              <a:tr h="415375">
                <a:tc>
                  <a:txBody>
                    <a:bodyPr/>
                    <a:lstStyle/>
                    <a:p>
                      <a:pPr marL="0" lvl="0" indent="0" algn="l" rtl="0">
                        <a:spcBef>
                          <a:spcPts val="0"/>
                        </a:spcBef>
                        <a:spcAft>
                          <a:spcPts val="0"/>
                        </a:spcAft>
                        <a:buNone/>
                      </a:pPr>
                      <a:r>
                        <a:rPr lang="zh-TW" sz="900"/>
                        <a:t>MnasNet</a:t>
                      </a:r>
                      <a:endParaRPr sz="900"/>
                    </a:p>
                  </a:txBody>
                  <a:tcPr marL="91425" marR="91425" marT="91425" marB="91425"/>
                </a:tc>
                <a:tc>
                  <a:txBody>
                    <a:bodyPr/>
                    <a:lstStyle/>
                    <a:p>
                      <a:pPr marL="0" lvl="0" indent="0" algn="l" rtl="0">
                        <a:spcBef>
                          <a:spcPts val="0"/>
                        </a:spcBef>
                        <a:spcAft>
                          <a:spcPts val="0"/>
                        </a:spcAft>
                        <a:buNone/>
                      </a:pPr>
                      <a:r>
                        <a:rPr lang="zh-TW" sz="900"/>
                        <a:t>340 (A2)</a:t>
                      </a:r>
                      <a:endParaRPr sz="900"/>
                    </a:p>
                  </a:txBody>
                  <a:tcPr marL="91425" marR="91425" marT="91425" marB="91425"/>
                </a:tc>
                <a:tc>
                  <a:txBody>
                    <a:bodyPr/>
                    <a:lstStyle/>
                    <a:p>
                      <a:pPr marL="0" lvl="0" indent="0" algn="l" rtl="0">
                        <a:spcBef>
                          <a:spcPts val="0"/>
                        </a:spcBef>
                        <a:spcAft>
                          <a:spcPts val="0"/>
                        </a:spcAft>
                        <a:buNone/>
                      </a:pPr>
                      <a:r>
                        <a:rPr lang="zh-TW" sz="900"/>
                        <a:t>75.6 (A2)</a:t>
                      </a:r>
                      <a:endParaRPr sz="900"/>
                    </a:p>
                  </a:txBody>
                  <a:tcPr marL="91425" marR="91425" marT="91425" marB="91425"/>
                </a:tc>
                <a:tc>
                  <a:txBody>
                    <a:bodyPr/>
                    <a:lstStyle/>
                    <a:p>
                      <a:pPr marL="0" lvl="0" indent="0" algn="l" rtl="0">
                        <a:spcBef>
                          <a:spcPts val="0"/>
                        </a:spcBef>
                        <a:spcAft>
                          <a:spcPts val="0"/>
                        </a:spcAft>
                        <a:buNone/>
                      </a:pPr>
                      <a:r>
                        <a:rPr lang="zh-TW" sz="900"/>
                        <a:t>329 (A1)</a:t>
                      </a:r>
                      <a:endParaRPr sz="900"/>
                    </a:p>
                  </a:txBody>
                  <a:tcPr marL="91425" marR="91425" marT="91425" marB="91425"/>
                </a:tc>
                <a:tc>
                  <a:txBody>
                    <a:bodyPr/>
                    <a:lstStyle/>
                    <a:p>
                      <a:pPr marL="0" lvl="0" indent="0" algn="l" rtl="0">
                        <a:spcBef>
                          <a:spcPts val="0"/>
                        </a:spcBef>
                        <a:spcAft>
                          <a:spcPts val="0"/>
                        </a:spcAft>
                        <a:buNone/>
                      </a:pPr>
                      <a:r>
                        <a:rPr lang="zh-TW" sz="900"/>
                        <a:t>76.2</a:t>
                      </a:r>
                      <a:r>
                        <a:rPr lang="zh-TW" sz="900">
                          <a:solidFill>
                            <a:schemeClr val="dk1"/>
                          </a:solidFill>
                        </a:rPr>
                        <a:t> (A1)</a:t>
                      </a:r>
                      <a:endParaRPr sz="900"/>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3"/>
          <p:cNvSpPr txBox="1">
            <a:spLocks noGrp="1"/>
          </p:cNvSpPr>
          <p:nvPr>
            <p:ph type="title"/>
          </p:nvPr>
        </p:nvSpPr>
        <p:spPr>
          <a:xfrm>
            <a:off x="441175" y="421475"/>
            <a:ext cx="4725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Experiments (Yang et al.)</a:t>
            </a:r>
            <a:endParaRPr/>
          </a:p>
        </p:txBody>
      </p:sp>
      <p:sp>
        <p:nvSpPr>
          <p:cNvPr id="135" name="Google Shape;135;p23"/>
          <p:cNvSpPr txBox="1">
            <a:spLocks noGrp="1"/>
          </p:cNvSpPr>
          <p:nvPr>
            <p:ph type="body" idx="1"/>
          </p:nvPr>
        </p:nvSpPr>
        <p:spPr>
          <a:xfrm>
            <a:off x="311700" y="1152475"/>
            <a:ext cx="8520600" cy="3846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a:solidFill>
                  <a:schemeClr val="dk1"/>
                </a:solidFill>
              </a:rPr>
              <a:t>COCO Object Detection </a:t>
            </a:r>
            <a:endParaRPr>
              <a:solidFill>
                <a:schemeClr val="dk1"/>
              </a:solidFill>
            </a:endParaRPr>
          </a:p>
        </p:txBody>
      </p:sp>
      <p:sp>
        <p:nvSpPr>
          <p:cNvPr id="136" name="Google Shape;136;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11</a:t>
            </a:fld>
            <a:endParaRPr/>
          </a:p>
        </p:txBody>
      </p:sp>
      <p:pic>
        <p:nvPicPr>
          <p:cNvPr id="137" name="Google Shape;137;p23"/>
          <p:cNvPicPr preferRelativeResize="0"/>
          <p:nvPr/>
        </p:nvPicPr>
        <p:blipFill>
          <a:blip r:embed="rId3">
            <a:alphaModFix/>
          </a:blip>
          <a:stretch>
            <a:fillRect/>
          </a:stretch>
        </p:blipFill>
        <p:spPr>
          <a:xfrm>
            <a:off x="1243013" y="1960710"/>
            <a:ext cx="6657975" cy="1371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4"/>
          <p:cNvSpPr txBox="1">
            <a:spLocks noGrp="1"/>
          </p:cNvSpPr>
          <p:nvPr>
            <p:ph type="title"/>
          </p:nvPr>
        </p:nvSpPr>
        <p:spPr>
          <a:xfrm>
            <a:off x="441175" y="421475"/>
            <a:ext cx="4725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Experiments (Yang et al.)</a:t>
            </a:r>
            <a:endParaRPr/>
          </a:p>
        </p:txBody>
      </p:sp>
      <p:sp>
        <p:nvSpPr>
          <p:cNvPr id="143" name="Google Shape;143;p24"/>
          <p:cNvSpPr txBox="1">
            <a:spLocks noGrp="1"/>
          </p:cNvSpPr>
          <p:nvPr>
            <p:ph type="body" idx="1"/>
          </p:nvPr>
        </p:nvSpPr>
        <p:spPr>
          <a:xfrm>
            <a:off x="311700" y="1152475"/>
            <a:ext cx="8520600" cy="3846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a:solidFill>
                  <a:schemeClr val="dk1"/>
                </a:solidFill>
              </a:rPr>
              <a:t>Ablation study on Routing function </a:t>
            </a:r>
            <a:endParaRPr>
              <a:solidFill>
                <a:schemeClr val="dk1"/>
              </a:solidFill>
            </a:endParaRPr>
          </a:p>
        </p:txBody>
      </p:sp>
      <p:sp>
        <p:nvSpPr>
          <p:cNvPr id="144" name="Google Shape;144;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12</a:t>
            </a:fld>
            <a:endParaRPr/>
          </a:p>
        </p:txBody>
      </p:sp>
      <p:pic>
        <p:nvPicPr>
          <p:cNvPr id="145" name="Google Shape;145;p24"/>
          <p:cNvPicPr preferRelativeResize="0"/>
          <p:nvPr/>
        </p:nvPicPr>
        <p:blipFill>
          <a:blip r:embed="rId3">
            <a:alphaModFix/>
          </a:blip>
          <a:stretch>
            <a:fillRect/>
          </a:stretch>
        </p:blipFill>
        <p:spPr>
          <a:xfrm>
            <a:off x="2323875" y="1594913"/>
            <a:ext cx="4496250" cy="29620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5"/>
          <p:cNvSpPr txBox="1">
            <a:spLocks noGrp="1"/>
          </p:cNvSpPr>
          <p:nvPr>
            <p:ph type="title"/>
          </p:nvPr>
        </p:nvSpPr>
        <p:spPr>
          <a:xfrm>
            <a:off x="441175" y="421475"/>
            <a:ext cx="4725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Experiments (Yang et al.)</a:t>
            </a:r>
            <a:endParaRPr/>
          </a:p>
        </p:txBody>
      </p:sp>
      <p:sp>
        <p:nvSpPr>
          <p:cNvPr id="151" name="Google Shape;151;p25"/>
          <p:cNvSpPr txBox="1">
            <a:spLocks noGrp="1"/>
          </p:cNvSpPr>
          <p:nvPr>
            <p:ph type="body" idx="1"/>
          </p:nvPr>
        </p:nvSpPr>
        <p:spPr>
          <a:xfrm>
            <a:off x="311700" y="1152475"/>
            <a:ext cx="8520600" cy="3846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a:solidFill>
                  <a:schemeClr val="dk1"/>
                </a:solidFill>
              </a:rPr>
              <a:t>Ablation study on CondConv Layer Depth  </a:t>
            </a:r>
            <a:endParaRPr>
              <a:solidFill>
                <a:schemeClr val="dk1"/>
              </a:solidFill>
            </a:endParaRPr>
          </a:p>
        </p:txBody>
      </p:sp>
      <p:sp>
        <p:nvSpPr>
          <p:cNvPr id="152" name="Google Shape;152;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13</a:t>
            </a:fld>
            <a:endParaRPr/>
          </a:p>
        </p:txBody>
      </p:sp>
      <p:pic>
        <p:nvPicPr>
          <p:cNvPr id="153" name="Google Shape;153;p25"/>
          <p:cNvPicPr preferRelativeResize="0"/>
          <p:nvPr/>
        </p:nvPicPr>
        <p:blipFill>
          <a:blip r:embed="rId3">
            <a:alphaModFix/>
          </a:blip>
          <a:stretch>
            <a:fillRect/>
          </a:stretch>
        </p:blipFill>
        <p:spPr>
          <a:xfrm>
            <a:off x="2324100" y="1694800"/>
            <a:ext cx="4495800" cy="27622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6"/>
          <p:cNvSpPr txBox="1">
            <a:spLocks noGrp="1"/>
          </p:cNvSpPr>
          <p:nvPr>
            <p:ph type="title"/>
          </p:nvPr>
        </p:nvSpPr>
        <p:spPr>
          <a:xfrm>
            <a:off x="441175" y="421475"/>
            <a:ext cx="4725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Analysis (Yang et al.)</a:t>
            </a:r>
            <a:endParaRPr/>
          </a:p>
        </p:txBody>
      </p:sp>
      <p:sp>
        <p:nvSpPr>
          <p:cNvPr id="159" name="Google Shape;159;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14</a:t>
            </a:fld>
            <a:endParaRPr/>
          </a:p>
        </p:txBody>
      </p:sp>
      <p:pic>
        <p:nvPicPr>
          <p:cNvPr id="160" name="Google Shape;160;p26"/>
          <p:cNvPicPr preferRelativeResize="0"/>
          <p:nvPr/>
        </p:nvPicPr>
        <p:blipFill>
          <a:blip r:embed="rId3">
            <a:alphaModFix/>
          </a:blip>
          <a:stretch>
            <a:fillRect/>
          </a:stretch>
        </p:blipFill>
        <p:spPr>
          <a:xfrm>
            <a:off x="3831675" y="994175"/>
            <a:ext cx="5189477" cy="1535400"/>
          </a:xfrm>
          <a:prstGeom prst="rect">
            <a:avLst/>
          </a:prstGeom>
          <a:noFill/>
          <a:ln>
            <a:noFill/>
          </a:ln>
        </p:spPr>
      </p:pic>
      <p:pic>
        <p:nvPicPr>
          <p:cNvPr id="161" name="Google Shape;161;p26"/>
          <p:cNvPicPr preferRelativeResize="0"/>
          <p:nvPr/>
        </p:nvPicPr>
        <p:blipFill>
          <a:blip r:embed="rId4">
            <a:alphaModFix/>
          </a:blip>
          <a:stretch>
            <a:fillRect/>
          </a:stretch>
        </p:blipFill>
        <p:spPr>
          <a:xfrm>
            <a:off x="747425" y="1615612"/>
            <a:ext cx="2894456" cy="1912275"/>
          </a:xfrm>
          <a:prstGeom prst="rect">
            <a:avLst/>
          </a:prstGeom>
          <a:noFill/>
          <a:ln>
            <a:noFill/>
          </a:ln>
        </p:spPr>
      </p:pic>
      <p:pic>
        <p:nvPicPr>
          <p:cNvPr id="162" name="Google Shape;162;p26"/>
          <p:cNvPicPr preferRelativeResize="0"/>
          <p:nvPr/>
        </p:nvPicPr>
        <p:blipFill>
          <a:blip r:embed="rId5">
            <a:alphaModFix/>
          </a:blip>
          <a:stretch>
            <a:fillRect/>
          </a:stretch>
        </p:blipFill>
        <p:spPr>
          <a:xfrm>
            <a:off x="3977250" y="2571750"/>
            <a:ext cx="5043901" cy="17568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7"/>
          <p:cNvSpPr txBox="1">
            <a:spLocks noGrp="1"/>
          </p:cNvSpPr>
          <p:nvPr>
            <p:ph type="title"/>
          </p:nvPr>
        </p:nvSpPr>
        <p:spPr>
          <a:xfrm>
            <a:off x="441175" y="421475"/>
            <a:ext cx="4725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Analysis (Yang et al.)</a:t>
            </a:r>
            <a:endParaRPr/>
          </a:p>
        </p:txBody>
      </p:sp>
      <p:sp>
        <p:nvSpPr>
          <p:cNvPr id="168" name="Google Shape;168;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15</a:t>
            </a:fld>
            <a:endParaRPr/>
          </a:p>
        </p:txBody>
      </p:sp>
      <p:pic>
        <p:nvPicPr>
          <p:cNvPr id="169" name="Google Shape;169;p27"/>
          <p:cNvPicPr preferRelativeResize="0"/>
          <p:nvPr/>
        </p:nvPicPr>
        <p:blipFill>
          <a:blip r:embed="rId3">
            <a:alphaModFix/>
          </a:blip>
          <a:stretch>
            <a:fillRect/>
          </a:stretch>
        </p:blipFill>
        <p:spPr>
          <a:xfrm>
            <a:off x="441175" y="994175"/>
            <a:ext cx="8579975" cy="366862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8"/>
          <p:cNvSpPr txBox="1">
            <a:spLocks noGrp="1"/>
          </p:cNvSpPr>
          <p:nvPr>
            <p:ph type="title"/>
          </p:nvPr>
        </p:nvSpPr>
        <p:spPr>
          <a:xfrm>
            <a:off x="441175" y="421475"/>
            <a:ext cx="4725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Conclusion (Yang et al.)</a:t>
            </a:r>
            <a:endParaRPr/>
          </a:p>
        </p:txBody>
      </p:sp>
      <p:sp>
        <p:nvSpPr>
          <p:cNvPr id="175" name="Google Shape;175;p28"/>
          <p:cNvSpPr txBox="1">
            <a:spLocks noGrp="1"/>
          </p:cNvSpPr>
          <p:nvPr>
            <p:ph type="body" idx="1"/>
          </p:nvPr>
        </p:nvSpPr>
        <p:spPr>
          <a:xfrm>
            <a:off x="311700" y="1152475"/>
            <a:ext cx="8520600" cy="3846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a:solidFill>
                  <a:schemeClr val="dk1"/>
                </a:solidFill>
              </a:rPr>
              <a:t>Propose CondConv, a new direction for increasing model capacity while maintaining efficient inference (dynamic convolution).</a:t>
            </a:r>
            <a:endParaRPr>
              <a:solidFill>
                <a:schemeClr val="dk1"/>
              </a:solidFill>
            </a:endParaRPr>
          </a:p>
        </p:txBody>
      </p:sp>
      <p:sp>
        <p:nvSpPr>
          <p:cNvPr id="176" name="Google Shape;176;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9"/>
          <p:cNvSpPr txBox="1">
            <a:spLocks noGrp="1"/>
          </p:cNvSpPr>
          <p:nvPr>
            <p:ph type="title"/>
          </p:nvPr>
        </p:nvSpPr>
        <p:spPr>
          <a:xfrm>
            <a:off x="441175" y="421475"/>
            <a:ext cx="31275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Related Work</a:t>
            </a:r>
            <a:endParaRPr/>
          </a:p>
        </p:txBody>
      </p:sp>
      <p:sp>
        <p:nvSpPr>
          <p:cNvPr id="182" name="Google Shape;182;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lt2"/>
              </a:buClr>
              <a:buSzPts val="1800"/>
              <a:buChar char="●"/>
            </a:pPr>
            <a:r>
              <a:rPr lang="zh-TW">
                <a:solidFill>
                  <a:schemeClr val="lt2"/>
                </a:solidFill>
              </a:rPr>
              <a:t>CondConv: Conditionally Parameterized Convolutions for Efficient Inference, NeurIPS 2019, Yang et al.</a:t>
            </a:r>
            <a:endParaRPr>
              <a:solidFill>
                <a:schemeClr val="dk1"/>
              </a:solidFill>
            </a:endParaRPr>
          </a:p>
          <a:p>
            <a:pPr marL="457200" lvl="0" indent="-342900" algn="l" rtl="0">
              <a:spcBef>
                <a:spcPts val="0"/>
              </a:spcBef>
              <a:spcAft>
                <a:spcPts val="0"/>
              </a:spcAft>
              <a:buClr>
                <a:schemeClr val="dk1"/>
              </a:buClr>
              <a:buSzPts val="1800"/>
              <a:buChar char="●"/>
            </a:pPr>
            <a:r>
              <a:rPr lang="zh-TW">
                <a:solidFill>
                  <a:schemeClr val="dk1"/>
                </a:solidFill>
              </a:rPr>
              <a:t>Omni-Dimensional Dynamic Convolution, ICLR 2022, Li et al.</a:t>
            </a:r>
            <a:endParaRPr>
              <a:solidFill>
                <a:schemeClr val="dk1"/>
              </a:solidFill>
            </a:endParaRPr>
          </a:p>
        </p:txBody>
      </p:sp>
      <p:sp>
        <p:nvSpPr>
          <p:cNvPr id="183" name="Google Shape;183;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0"/>
          <p:cNvSpPr txBox="1">
            <a:spLocks noGrp="1"/>
          </p:cNvSpPr>
          <p:nvPr>
            <p:ph type="title"/>
          </p:nvPr>
        </p:nvSpPr>
        <p:spPr>
          <a:xfrm>
            <a:off x="441175" y="421475"/>
            <a:ext cx="4725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Introduction (Li et al.)</a:t>
            </a:r>
            <a:endParaRPr/>
          </a:p>
        </p:txBody>
      </p:sp>
      <p:sp>
        <p:nvSpPr>
          <p:cNvPr id="189" name="Google Shape;189;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a:solidFill>
                  <a:schemeClr val="dk1"/>
                </a:solidFill>
              </a:rPr>
              <a:t>Task</a:t>
            </a:r>
            <a:endParaRPr>
              <a:solidFill>
                <a:schemeClr val="dk1"/>
              </a:solidFill>
            </a:endParaRPr>
          </a:p>
          <a:p>
            <a:pPr marL="914400" lvl="1" indent="-317500" algn="l" rtl="0">
              <a:spcBef>
                <a:spcPts val="0"/>
              </a:spcBef>
              <a:spcAft>
                <a:spcPts val="0"/>
              </a:spcAft>
              <a:buClr>
                <a:schemeClr val="dk1"/>
              </a:buClr>
              <a:buSzPts val="1400"/>
              <a:buChar char="○"/>
            </a:pPr>
            <a:r>
              <a:rPr lang="zh-TW">
                <a:solidFill>
                  <a:schemeClr val="dk1"/>
                </a:solidFill>
              </a:rPr>
              <a:t>Convolution block of image classification / object detection</a:t>
            </a:r>
            <a:endParaRPr>
              <a:solidFill>
                <a:schemeClr val="dk1"/>
              </a:solidFill>
            </a:endParaRPr>
          </a:p>
          <a:p>
            <a:pPr marL="457200" lvl="0" indent="-342900" algn="l" rtl="0">
              <a:spcBef>
                <a:spcPts val="0"/>
              </a:spcBef>
              <a:spcAft>
                <a:spcPts val="0"/>
              </a:spcAft>
              <a:buClr>
                <a:schemeClr val="dk1"/>
              </a:buClr>
              <a:buSzPts val="1800"/>
              <a:buChar char="●"/>
            </a:pPr>
            <a:r>
              <a:rPr lang="zh-TW">
                <a:solidFill>
                  <a:schemeClr val="dk1"/>
                </a:solidFill>
              </a:rPr>
              <a:t>Problem</a:t>
            </a:r>
            <a:endParaRPr>
              <a:solidFill>
                <a:schemeClr val="dk1"/>
              </a:solidFill>
            </a:endParaRPr>
          </a:p>
          <a:p>
            <a:pPr marL="914400" lvl="1" indent="-317500" algn="l" rtl="0">
              <a:spcBef>
                <a:spcPts val="0"/>
              </a:spcBef>
              <a:spcAft>
                <a:spcPts val="0"/>
              </a:spcAft>
              <a:buClr>
                <a:schemeClr val="dk1"/>
              </a:buClr>
              <a:buSzPts val="1400"/>
              <a:buChar char="○"/>
            </a:pPr>
            <a:r>
              <a:rPr lang="zh-TW">
                <a:solidFill>
                  <a:schemeClr val="dk1"/>
                </a:solidFill>
              </a:rPr>
              <a:t>Previous dynamic convolutions are only dynamic on dimension of kernel space.</a:t>
            </a:r>
            <a:endParaRPr>
              <a:solidFill>
                <a:schemeClr val="dk1"/>
              </a:solidFill>
            </a:endParaRPr>
          </a:p>
          <a:p>
            <a:pPr marL="914400" lvl="1" indent="-317500" algn="l" rtl="0">
              <a:spcBef>
                <a:spcPts val="0"/>
              </a:spcBef>
              <a:spcAft>
                <a:spcPts val="0"/>
              </a:spcAft>
              <a:buClr>
                <a:schemeClr val="dk1"/>
              </a:buClr>
              <a:buSzPts val="1400"/>
              <a:buChar char="○"/>
            </a:pPr>
            <a:r>
              <a:rPr lang="zh-TW">
                <a:solidFill>
                  <a:schemeClr val="dk1"/>
                </a:solidFill>
              </a:rPr>
              <a:t>Other dimension (spatial, in/out channel) are still static</a:t>
            </a:r>
            <a:endParaRPr>
              <a:solidFill>
                <a:schemeClr val="dk1"/>
              </a:solidFill>
            </a:endParaRPr>
          </a:p>
          <a:p>
            <a:pPr marL="914400" lvl="1" indent="-317500" algn="l" rtl="0">
              <a:spcBef>
                <a:spcPts val="0"/>
              </a:spcBef>
              <a:spcAft>
                <a:spcPts val="0"/>
              </a:spcAft>
              <a:buClr>
                <a:schemeClr val="dk1"/>
              </a:buClr>
              <a:buSzPts val="1400"/>
              <a:buChar char="○"/>
            </a:pPr>
            <a:r>
              <a:rPr lang="zh-TW">
                <a:solidFill>
                  <a:schemeClr val="dk1"/>
                </a:solidFill>
              </a:rPr>
              <a:t>Previous dynamic convolutions increase parameter size by n (# of weights) times.</a:t>
            </a:r>
            <a:endParaRPr>
              <a:solidFill>
                <a:schemeClr val="dk1"/>
              </a:solidFill>
            </a:endParaRPr>
          </a:p>
          <a:p>
            <a:pPr marL="457200" lvl="0" indent="-342900" algn="l" rtl="0">
              <a:spcBef>
                <a:spcPts val="0"/>
              </a:spcBef>
              <a:spcAft>
                <a:spcPts val="0"/>
              </a:spcAft>
              <a:buClr>
                <a:schemeClr val="dk1"/>
              </a:buClr>
              <a:buSzPts val="1800"/>
              <a:buChar char="●"/>
            </a:pPr>
            <a:r>
              <a:rPr lang="zh-TW">
                <a:solidFill>
                  <a:schemeClr val="dk1"/>
                </a:solidFill>
              </a:rPr>
              <a:t>Contribution</a:t>
            </a:r>
            <a:endParaRPr>
              <a:solidFill>
                <a:schemeClr val="dk1"/>
              </a:solidFill>
            </a:endParaRPr>
          </a:p>
          <a:p>
            <a:pPr marL="914400" lvl="1" indent="-317500" algn="l" rtl="0">
              <a:spcBef>
                <a:spcPts val="0"/>
              </a:spcBef>
              <a:spcAft>
                <a:spcPts val="0"/>
              </a:spcAft>
              <a:buClr>
                <a:schemeClr val="dk1"/>
              </a:buClr>
              <a:buSzPts val="1400"/>
              <a:buChar char="○"/>
            </a:pPr>
            <a:r>
              <a:rPr lang="zh-TW">
                <a:solidFill>
                  <a:schemeClr val="dk1"/>
                </a:solidFill>
              </a:rPr>
              <a:t>Propose ODConv, a new dynamic convolution method utilitizing spatial and in/out channel dimension.</a:t>
            </a:r>
            <a:endParaRPr>
              <a:solidFill>
                <a:schemeClr val="dk1"/>
              </a:solidFill>
            </a:endParaRPr>
          </a:p>
        </p:txBody>
      </p:sp>
      <p:sp>
        <p:nvSpPr>
          <p:cNvPr id="190" name="Google Shape;190;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1"/>
          <p:cNvSpPr txBox="1">
            <a:spLocks noGrp="1"/>
          </p:cNvSpPr>
          <p:nvPr>
            <p:ph type="title"/>
          </p:nvPr>
        </p:nvSpPr>
        <p:spPr>
          <a:xfrm>
            <a:off x="441175" y="421475"/>
            <a:ext cx="4725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Method (Li et al.)</a:t>
            </a:r>
            <a:endParaRPr/>
          </a:p>
        </p:txBody>
      </p:sp>
      <p:sp>
        <p:nvSpPr>
          <p:cNvPr id="196" name="Google Shape;196;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19</a:t>
            </a:fld>
            <a:endParaRPr/>
          </a:p>
        </p:txBody>
      </p:sp>
      <p:pic>
        <p:nvPicPr>
          <p:cNvPr id="197" name="Google Shape;197;p31"/>
          <p:cNvPicPr preferRelativeResize="0"/>
          <p:nvPr/>
        </p:nvPicPr>
        <p:blipFill>
          <a:blip r:embed="rId3">
            <a:alphaModFix/>
          </a:blip>
          <a:stretch>
            <a:fillRect/>
          </a:stretch>
        </p:blipFill>
        <p:spPr>
          <a:xfrm>
            <a:off x="142050" y="2828500"/>
            <a:ext cx="4859449" cy="1834725"/>
          </a:xfrm>
          <a:prstGeom prst="rect">
            <a:avLst/>
          </a:prstGeom>
          <a:noFill/>
          <a:ln>
            <a:noFill/>
          </a:ln>
        </p:spPr>
      </p:pic>
      <p:pic>
        <p:nvPicPr>
          <p:cNvPr id="198" name="Google Shape;198;p31"/>
          <p:cNvPicPr preferRelativeResize="0"/>
          <p:nvPr/>
        </p:nvPicPr>
        <p:blipFill>
          <a:blip r:embed="rId4">
            <a:alphaModFix/>
          </a:blip>
          <a:stretch>
            <a:fillRect/>
          </a:stretch>
        </p:blipFill>
        <p:spPr>
          <a:xfrm>
            <a:off x="5166775" y="2828500"/>
            <a:ext cx="3810375" cy="1834725"/>
          </a:xfrm>
          <a:prstGeom prst="rect">
            <a:avLst/>
          </a:prstGeom>
          <a:noFill/>
          <a:ln>
            <a:noFill/>
          </a:ln>
        </p:spPr>
      </p:pic>
      <p:pic>
        <p:nvPicPr>
          <p:cNvPr id="199" name="Google Shape;199;p31"/>
          <p:cNvPicPr preferRelativeResize="0"/>
          <p:nvPr/>
        </p:nvPicPr>
        <p:blipFill>
          <a:blip r:embed="rId5">
            <a:alphaModFix/>
          </a:blip>
          <a:stretch>
            <a:fillRect/>
          </a:stretch>
        </p:blipFill>
        <p:spPr>
          <a:xfrm>
            <a:off x="119988" y="994175"/>
            <a:ext cx="8904025" cy="501641"/>
          </a:xfrm>
          <a:prstGeom prst="rect">
            <a:avLst/>
          </a:prstGeom>
          <a:noFill/>
          <a:ln>
            <a:noFill/>
          </a:ln>
        </p:spPr>
      </p:pic>
      <p:sp>
        <p:nvSpPr>
          <p:cNvPr id="200" name="Google Shape;200;p31"/>
          <p:cNvSpPr txBox="1"/>
          <p:nvPr/>
        </p:nvSpPr>
        <p:spPr>
          <a:xfrm>
            <a:off x="3514700" y="1574811"/>
            <a:ext cx="2459700" cy="125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zh-TW" sz="1800">
                <a:solidFill>
                  <a:schemeClr val="dk1"/>
                </a:solidFill>
              </a:rPr>
              <a:t>:weight</a:t>
            </a:r>
            <a:endParaRPr sz="1800">
              <a:solidFill>
                <a:schemeClr val="dk1"/>
              </a:solidFill>
            </a:endParaRPr>
          </a:p>
          <a:p>
            <a:pPr marL="0" lvl="0" indent="0" algn="l" rtl="0">
              <a:spcBef>
                <a:spcPts val="0"/>
              </a:spcBef>
              <a:spcAft>
                <a:spcPts val="0"/>
              </a:spcAft>
              <a:buNone/>
            </a:pPr>
            <a:r>
              <a:rPr lang="zh-TW" sz="1800">
                <a:solidFill>
                  <a:schemeClr val="dk1"/>
                </a:solidFill>
              </a:rPr>
              <a:t>:output channel</a:t>
            </a:r>
            <a:endParaRPr sz="1800">
              <a:solidFill>
                <a:schemeClr val="dk1"/>
              </a:solidFill>
            </a:endParaRPr>
          </a:p>
          <a:p>
            <a:pPr marL="0" lvl="0" indent="0" algn="l" rtl="0">
              <a:spcBef>
                <a:spcPts val="0"/>
              </a:spcBef>
              <a:spcAft>
                <a:spcPts val="0"/>
              </a:spcAft>
              <a:buNone/>
            </a:pPr>
            <a:r>
              <a:rPr lang="zh-TW" sz="1800">
                <a:solidFill>
                  <a:schemeClr val="dk1"/>
                </a:solidFill>
              </a:rPr>
              <a:t>:input channel</a:t>
            </a:r>
            <a:endParaRPr sz="1800">
              <a:solidFill>
                <a:schemeClr val="dk1"/>
              </a:solidFill>
            </a:endParaRPr>
          </a:p>
          <a:p>
            <a:pPr marL="0" lvl="0" indent="0" algn="l" rtl="0">
              <a:spcBef>
                <a:spcPts val="0"/>
              </a:spcBef>
              <a:spcAft>
                <a:spcPts val="0"/>
              </a:spcAft>
              <a:buNone/>
            </a:pPr>
            <a:r>
              <a:rPr lang="zh-TW" sz="1800">
                <a:solidFill>
                  <a:schemeClr val="dk1"/>
                </a:solidFill>
              </a:rPr>
              <a:t>:spatial</a:t>
            </a:r>
            <a:endParaRPr sz="1800">
              <a:solidFill>
                <a:schemeClr val="dk1"/>
              </a:solidFill>
            </a:endParaRPr>
          </a:p>
        </p:txBody>
      </p:sp>
      <p:pic>
        <p:nvPicPr>
          <p:cNvPr id="201" name="Google Shape;201;p31"/>
          <p:cNvPicPr preferRelativeResize="0"/>
          <p:nvPr/>
        </p:nvPicPr>
        <p:blipFill>
          <a:blip r:embed="rId6">
            <a:alphaModFix/>
          </a:blip>
          <a:stretch>
            <a:fillRect/>
          </a:stretch>
        </p:blipFill>
        <p:spPr>
          <a:xfrm>
            <a:off x="3169600" y="1734600"/>
            <a:ext cx="396903" cy="222000"/>
          </a:xfrm>
          <a:prstGeom prst="rect">
            <a:avLst/>
          </a:prstGeom>
          <a:noFill/>
          <a:ln>
            <a:noFill/>
          </a:ln>
        </p:spPr>
      </p:pic>
      <p:pic>
        <p:nvPicPr>
          <p:cNvPr id="202" name="Google Shape;202;p31"/>
          <p:cNvPicPr preferRelativeResize="0"/>
          <p:nvPr/>
        </p:nvPicPr>
        <p:blipFill>
          <a:blip r:embed="rId7">
            <a:alphaModFix/>
          </a:blip>
          <a:stretch>
            <a:fillRect/>
          </a:stretch>
        </p:blipFill>
        <p:spPr>
          <a:xfrm>
            <a:off x="3188950" y="1956609"/>
            <a:ext cx="325750" cy="263116"/>
          </a:xfrm>
          <a:prstGeom prst="rect">
            <a:avLst/>
          </a:prstGeom>
          <a:noFill/>
          <a:ln>
            <a:noFill/>
          </a:ln>
        </p:spPr>
      </p:pic>
      <p:pic>
        <p:nvPicPr>
          <p:cNvPr id="203" name="Google Shape;203;p31"/>
          <p:cNvPicPr preferRelativeResize="0"/>
          <p:nvPr/>
        </p:nvPicPr>
        <p:blipFill>
          <a:blip r:embed="rId8">
            <a:alphaModFix/>
          </a:blip>
          <a:stretch>
            <a:fillRect/>
          </a:stretch>
        </p:blipFill>
        <p:spPr>
          <a:xfrm>
            <a:off x="3185312" y="2251237"/>
            <a:ext cx="313675" cy="253658"/>
          </a:xfrm>
          <a:prstGeom prst="rect">
            <a:avLst/>
          </a:prstGeom>
          <a:noFill/>
          <a:ln>
            <a:noFill/>
          </a:ln>
        </p:spPr>
      </p:pic>
      <p:pic>
        <p:nvPicPr>
          <p:cNvPr id="204" name="Google Shape;204;p31"/>
          <p:cNvPicPr preferRelativeResize="0"/>
          <p:nvPr/>
        </p:nvPicPr>
        <p:blipFill>
          <a:blip r:embed="rId9">
            <a:alphaModFix/>
          </a:blip>
          <a:stretch>
            <a:fillRect/>
          </a:stretch>
        </p:blipFill>
        <p:spPr>
          <a:xfrm>
            <a:off x="3188950" y="2536400"/>
            <a:ext cx="313675" cy="24025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2"/>
          <p:cNvSpPr txBox="1">
            <a:spLocks noGrp="1"/>
          </p:cNvSpPr>
          <p:nvPr>
            <p:ph type="title"/>
          </p:nvPr>
        </p:nvSpPr>
        <p:spPr>
          <a:xfrm>
            <a:off x="441175" y="421475"/>
            <a:ext cx="4725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Method (Li et al.)</a:t>
            </a:r>
            <a:endParaRPr/>
          </a:p>
        </p:txBody>
      </p:sp>
      <p:sp>
        <p:nvSpPr>
          <p:cNvPr id="210" name="Google Shape;210;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20</a:t>
            </a:fld>
            <a:endParaRPr/>
          </a:p>
        </p:txBody>
      </p:sp>
      <p:sp>
        <p:nvSpPr>
          <p:cNvPr id="211" name="Google Shape;211;p32"/>
          <p:cNvSpPr txBox="1"/>
          <p:nvPr/>
        </p:nvSpPr>
        <p:spPr>
          <a:xfrm>
            <a:off x="441175" y="1144950"/>
            <a:ext cx="8580000" cy="35184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Char char="●"/>
            </a:pPr>
            <a:r>
              <a:rPr lang="zh-TW" sz="1800">
                <a:solidFill>
                  <a:schemeClr val="dk1"/>
                </a:solidFill>
              </a:rPr>
              <a:t>                  are shared across weights</a:t>
            </a:r>
            <a:endParaRPr sz="1800">
              <a:solidFill>
                <a:schemeClr val="dk1"/>
              </a:solidFill>
            </a:endParaRPr>
          </a:p>
          <a:p>
            <a:pPr marL="457200" lvl="0" indent="-342900" algn="l" rtl="0">
              <a:spcBef>
                <a:spcPts val="0"/>
              </a:spcBef>
              <a:spcAft>
                <a:spcPts val="0"/>
              </a:spcAft>
              <a:buClr>
                <a:schemeClr val="dk1"/>
              </a:buClr>
              <a:buSzPts val="1800"/>
              <a:buChar char="●"/>
            </a:pPr>
            <a:r>
              <a:rPr lang="zh-TW" sz="1800">
                <a:solidFill>
                  <a:schemeClr val="dk1"/>
                </a:solidFill>
              </a:rPr>
              <a:t>Four share same                              stem</a:t>
            </a:r>
            <a:endParaRPr sz="1800">
              <a:solidFill>
                <a:schemeClr val="dk1"/>
              </a:solidFill>
            </a:endParaRPr>
          </a:p>
          <a:p>
            <a:pPr marL="457200" lvl="0" indent="-342900" algn="l" rtl="0">
              <a:spcBef>
                <a:spcPts val="0"/>
              </a:spcBef>
              <a:spcAft>
                <a:spcPts val="0"/>
              </a:spcAft>
              <a:buClr>
                <a:schemeClr val="dk1"/>
              </a:buClr>
              <a:buSzPts val="1800"/>
              <a:buChar char="●"/>
            </a:pPr>
            <a:r>
              <a:rPr lang="zh-TW" sz="1800">
                <a:solidFill>
                  <a:schemeClr val="dk1"/>
                </a:solidFill>
              </a:rPr>
              <a:t>       use softmax, others use sigmoid</a:t>
            </a:r>
            <a:endParaRPr sz="1800">
              <a:solidFill>
                <a:schemeClr val="dk1"/>
              </a:solidFill>
            </a:endParaRPr>
          </a:p>
          <a:p>
            <a:pPr marL="457200" lvl="0" indent="-342900" algn="l" rtl="0">
              <a:spcBef>
                <a:spcPts val="0"/>
              </a:spcBef>
              <a:spcAft>
                <a:spcPts val="0"/>
              </a:spcAft>
              <a:buClr>
                <a:schemeClr val="dk1"/>
              </a:buClr>
              <a:buSzPts val="1800"/>
              <a:buChar char="●"/>
            </a:pPr>
            <a:r>
              <a:rPr lang="zh-TW" sz="1800">
                <a:solidFill>
                  <a:schemeClr val="dk1"/>
                </a:solidFill>
              </a:rPr>
              <a:t>use temperature annealing</a:t>
            </a:r>
            <a:endParaRPr sz="1800">
              <a:solidFill>
                <a:schemeClr val="dk1"/>
              </a:solidFill>
            </a:endParaRPr>
          </a:p>
        </p:txBody>
      </p:sp>
      <p:pic>
        <p:nvPicPr>
          <p:cNvPr id="212" name="Google Shape;212;p32"/>
          <p:cNvPicPr preferRelativeResize="0"/>
          <p:nvPr/>
        </p:nvPicPr>
        <p:blipFill>
          <a:blip r:embed="rId3">
            <a:alphaModFix/>
          </a:blip>
          <a:stretch>
            <a:fillRect/>
          </a:stretch>
        </p:blipFill>
        <p:spPr>
          <a:xfrm>
            <a:off x="918175" y="1284196"/>
            <a:ext cx="325750" cy="263116"/>
          </a:xfrm>
          <a:prstGeom prst="rect">
            <a:avLst/>
          </a:prstGeom>
          <a:noFill/>
          <a:ln>
            <a:noFill/>
          </a:ln>
        </p:spPr>
      </p:pic>
      <p:pic>
        <p:nvPicPr>
          <p:cNvPr id="213" name="Google Shape;213;p32"/>
          <p:cNvPicPr preferRelativeResize="0"/>
          <p:nvPr/>
        </p:nvPicPr>
        <p:blipFill>
          <a:blip r:embed="rId4">
            <a:alphaModFix/>
          </a:blip>
          <a:stretch>
            <a:fillRect/>
          </a:stretch>
        </p:blipFill>
        <p:spPr>
          <a:xfrm>
            <a:off x="1310662" y="1288925"/>
            <a:ext cx="313675" cy="253658"/>
          </a:xfrm>
          <a:prstGeom prst="rect">
            <a:avLst/>
          </a:prstGeom>
          <a:noFill/>
          <a:ln>
            <a:noFill/>
          </a:ln>
        </p:spPr>
      </p:pic>
      <p:pic>
        <p:nvPicPr>
          <p:cNvPr id="214" name="Google Shape;214;p32"/>
          <p:cNvPicPr preferRelativeResize="0"/>
          <p:nvPr/>
        </p:nvPicPr>
        <p:blipFill>
          <a:blip r:embed="rId5">
            <a:alphaModFix/>
          </a:blip>
          <a:stretch>
            <a:fillRect/>
          </a:stretch>
        </p:blipFill>
        <p:spPr>
          <a:xfrm>
            <a:off x="1691050" y="1295625"/>
            <a:ext cx="313675" cy="240254"/>
          </a:xfrm>
          <a:prstGeom prst="rect">
            <a:avLst/>
          </a:prstGeom>
          <a:noFill/>
          <a:ln>
            <a:noFill/>
          </a:ln>
        </p:spPr>
      </p:pic>
      <p:pic>
        <p:nvPicPr>
          <p:cNvPr id="215" name="Google Shape;215;p32"/>
          <p:cNvPicPr preferRelativeResize="0"/>
          <p:nvPr/>
        </p:nvPicPr>
        <p:blipFill>
          <a:blip r:embed="rId6">
            <a:alphaModFix/>
          </a:blip>
          <a:stretch>
            <a:fillRect/>
          </a:stretch>
        </p:blipFill>
        <p:spPr>
          <a:xfrm>
            <a:off x="2746075" y="1560988"/>
            <a:ext cx="1776000" cy="222000"/>
          </a:xfrm>
          <a:prstGeom prst="rect">
            <a:avLst/>
          </a:prstGeom>
          <a:noFill/>
          <a:ln>
            <a:noFill/>
          </a:ln>
        </p:spPr>
      </p:pic>
      <p:pic>
        <p:nvPicPr>
          <p:cNvPr id="216" name="Google Shape;216;p32"/>
          <p:cNvPicPr preferRelativeResize="0"/>
          <p:nvPr/>
        </p:nvPicPr>
        <p:blipFill>
          <a:blip r:embed="rId7">
            <a:alphaModFix/>
          </a:blip>
          <a:stretch>
            <a:fillRect/>
          </a:stretch>
        </p:blipFill>
        <p:spPr>
          <a:xfrm>
            <a:off x="950775" y="1837212"/>
            <a:ext cx="396903" cy="222000"/>
          </a:xfrm>
          <a:prstGeom prst="rect">
            <a:avLst/>
          </a:prstGeom>
          <a:noFill/>
          <a:ln>
            <a:noFill/>
          </a:ln>
        </p:spPr>
      </p:pic>
      <p:pic>
        <p:nvPicPr>
          <p:cNvPr id="217" name="Google Shape;217;p32"/>
          <p:cNvPicPr preferRelativeResize="0"/>
          <p:nvPr/>
        </p:nvPicPr>
        <p:blipFill>
          <a:blip r:embed="rId8">
            <a:alphaModFix/>
          </a:blip>
          <a:stretch>
            <a:fillRect/>
          </a:stretch>
        </p:blipFill>
        <p:spPr>
          <a:xfrm>
            <a:off x="687550" y="2647050"/>
            <a:ext cx="3752850" cy="1219200"/>
          </a:xfrm>
          <a:prstGeom prst="rect">
            <a:avLst/>
          </a:prstGeom>
          <a:noFill/>
          <a:ln>
            <a:noFill/>
          </a:ln>
        </p:spPr>
      </p:pic>
      <p:pic>
        <p:nvPicPr>
          <p:cNvPr id="218" name="Google Shape;218;p32"/>
          <p:cNvPicPr preferRelativeResize="0"/>
          <p:nvPr/>
        </p:nvPicPr>
        <p:blipFill>
          <a:blip r:embed="rId9">
            <a:alphaModFix/>
          </a:blip>
          <a:stretch>
            <a:fillRect/>
          </a:stretch>
        </p:blipFill>
        <p:spPr>
          <a:xfrm>
            <a:off x="4911775" y="2768775"/>
            <a:ext cx="3642150" cy="975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3"/>
          <p:cNvSpPr txBox="1">
            <a:spLocks noGrp="1"/>
          </p:cNvSpPr>
          <p:nvPr>
            <p:ph type="title"/>
          </p:nvPr>
        </p:nvSpPr>
        <p:spPr>
          <a:xfrm>
            <a:off x="441175" y="421475"/>
            <a:ext cx="4725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Experiments (Li et al.)</a:t>
            </a:r>
            <a:endParaRPr/>
          </a:p>
        </p:txBody>
      </p:sp>
      <p:sp>
        <p:nvSpPr>
          <p:cNvPr id="224" name="Google Shape;224;p33"/>
          <p:cNvSpPr txBox="1">
            <a:spLocks noGrp="1"/>
          </p:cNvSpPr>
          <p:nvPr>
            <p:ph type="body" idx="1"/>
          </p:nvPr>
        </p:nvSpPr>
        <p:spPr>
          <a:xfrm>
            <a:off x="311700" y="1152475"/>
            <a:ext cx="8520600" cy="3846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a:solidFill>
                  <a:schemeClr val="dk1"/>
                </a:solidFill>
              </a:rPr>
              <a:t>Image Classification on ImageNet — MobileNets</a:t>
            </a:r>
            <a:endParaRPr>
              <a:solidFill>
                <a:schemeClr val="dk1"/>
              </a:solidFill>
            </a:endParaRPr>
          </a:p>
        </p:txBody>
      </p:sp>
      <p:sp>
        <p:nvSpPr>
          <p:cNvPr id="225" name="Google Shape;225;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21</a:t>
            </a:fld>
            <a:endParaRPr/>
          </a:p>
        </p:txBody>
      </p:sp>
      <p:pic>
        <p:nvPicPr>
          <p:cNvPr id="226" name="Google Shape;226;p33"/>
          <p:cNvPicPr preferRelativeResize="0"/>
          <p:nvPr/>
        </p:nvPicPr>
        <p:blipFill>
          <a:blip r:embed="rId3">
            <a:alphaModFix/>
          </a:blip>
          <a:stretch>
            <a:fillRect/>
          </a:stretch>
        </p:blipFill>
        <p:spPr>
          <a:xfrm>
            <a:off x="2046800" y="1575000"/>
            <a:ext cx="5050399" cy="32286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4"/>
          <p:cNvSpPr txBox="1">
            <a:spLocks noGrp="1"/>
          </p:cNvSpPr>
          <p:nvPr>
            <p:ph type="title"/>
          </p:nvPr>
        </p:nvSpPr>
        <p:spPr>
          <a:xfrm>
            <a:off x="441175" y="421475"/>
            <a:ext cx="4725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Experiments (Li et al.)</a:t>
            </a:r>
            <a:endParaRPr/>
          </a:p>
        </p:txBody>
      </p:sp>
      <p:sp>
        <p:nvSpPr>
          <p:cNvPr id="232" name="Google Shape;232;p34"/>
          <p:cNvSpPr txBox="1">
            <a:spLocks noGrp="1"/>
          </p:cNvSpPr>
          <p:nvPr>
            <p:ph type="body" idx="1"/>
          </p:nvPr>
        </p:nvSpPr>
        <p:spPr>
          <a:xfrm>
            <a:off x="311700" y="1152475"/>
            <a:ext cx="8520600" cy="3846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a:solidFill>
                  <a:schemeClr val="dk1"/>
                </a:solidFill>
              </a:rPr>
              <a:t>Image Classification on ImageNet — ResNets</a:t>
            </a:r>
            <a:endParaRPr>
              <a:solidFill>
                <a:schemeClr val="dk1"/>
              </a:solidFill>
            </a:endParaRPr>
          </a:p>
        </p:txBody>
      </p:sp>
      <p:sp>
        <p:nvSpPr>
          <p:cNvPr id="233" name="Google Shape;233;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22</a:t>
            </a:fld>
            <a:endParaRPr/>
          </a:p>
        </p:txBody>
      </p:sp>
      <p:pic>
        <p:nvPicPr>
          <p:cNvPr id="234" name="Google Shape;234;p34"/>
          <p:cNvPicPr preferRelativeResize="0"/>
          <p:nvPr/>
        </p:nvPicPr>
        <p:blipFill>
          <a:blip r:embed="rId3">
            <a:alphaModFix/>
          </a:blip>
          <a:stretch>
            <a:fillRect/>
          </a:stretch>
        </p:blipFill>
        <p:spPr>
          <a:xfrm>
            <a:off x="1232850" y="1604239"/>
            <a:ext cx="6678300" cy="1935025"/>
          </a:xfrm>
          <a:prstGeom prst="rect">
            <a:avLst/>
          </a:prstGeom>
          <a:noFill/>
          <a:ln>
            <a:noFill/>
          </a:ln>
        </p:spPr>
      </p:pic>
      <p:pic>
        <p:nvPicPr>
          <p:cNvPr id="235" name="Google Shape;235;p34"/>
          <p:cNvPicPr preferRelativeResize="0"/>
          <p:nvPr/>
        </p:nvPicPr>
        <p:blipFill>
          <a:blip r:embed="rId4">
            <a:alphaModFix/>
          </a:blip>
          <a:stretch>
            <a:fillRect/>
          </a:stretch>
        </p:blipFill>
        <p:spPr>
          <a:xfrm>
            <a:off x="2404388" y="3820500"/>
            <a:ext cx="4335225" cy="1178875"/>
          </a:xfrm>
          <a:prstGeom prst="rect">
            <a:avLst/>
          </a:prstGeom>
          <a:noFill/>
          <a:ln>
            <a:noFill/>
          </a:ln>
        </p:spPr>
      </p:pic>
      <p:sp>
        <p:nvSpPr>
          <p:cNvPr id="236" name="Google Shape;236;p34"/>
          <p:cNvSpPr txBox="1"/>
          <p:nvPr/>
        </p:nvSpPr>
        <p:spPr>
          <a:xfrm>
            <a:off x="3803250" y="3457500"/>
            <a:ext cx="1537500" cy="393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zh-TW" sz="1800">
                <a:solidFill>
                  <a:schemeClr val="dk2"/>
                </a:solidFill>
              </a:rPr>
              <a:t>Res101</a:t>
            </a:r>
            <a:endParaRPr sz="1800">
              <a:solidFill>
                <a:schemeClr val="dk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5"/>
          <p:cNvSpPr txBox="1">
            <a:spLocks noGrp="1"/>
          </p:cNvSpPr>
          <p:nvPr>
            <p:ph type="title"/>
          </p:nvPr>
        </p:nvSpPr>
        <p:spPr>
          <a:xfrm>
            <a:off x="441175" y="421475"/>
            <a:ext cx="4725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Experiments (Li et al.)</a:t>
            </a:r>
            <a:endParaRPr/>
          </a:p>
        </p:txBody>
      </p:sp>
      <p:sp>
        <p:nvSpPr>
          <p:cNvPr id="242" name="Google Shape;242;p35"/>
          <p:cNvSpPr txBox="1">
            <a:spLocks noGrp="1"/>
          </p:cNvSpPr>
          <p:nvPr>
            <p:ph type="body" idx="1"/>
          </p:nvPr>
        </p:nvSpPr>
        <p:spPr>
          <a:xfrm>
            <a:off x="311700" y="1152475"/>
            <a:ext cx="8977500" cy="3846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a:solidFill>
                  <a:schemeClr val="dk1"/>
                </a:solidFill>
              </a:rPr>
              <a:t>Object Detection on COCO, backbones are pretrained by ImageNet classification</a:t>
            </a:r>
            <a:endParaRPr>
              <a:solidFill>
                <a:schemeClr val="dk1"/>
              </a:solidFill>
            </a:endParaRPr>
          </a:p>
        </p:txBody>
      </p:sp>
      <p:sp>
        <p:nvSpPr>
          <p:cNvPr id="243" name="Google Shape;243;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23</a:t>
            </a:fld>
            <a:endParaRPr/>
          </a:p>
        </p:txBody>
      </p:sp>
      <p:pic>
        <p:nvPicPr>
          <p:cNvPr id="244" name="Google Shape;244;p35"/>
          <p:cNvPicPr preferRelativeResize="0"/>
          <p:nvPr/>
        </p:nvPicPr>
        <p:blipFill>
          <a:blip r:embed="rId3">
            <a:alphaModFix/>
          </a:blip>
          <a:stretch>
            <a:fillRect/>
          </a:stretch>
        </p:blipFill>
        <p:spPr>
          <a:xfrm>
            <a:off x="520238" y="1509355"/>
            <a:ext cx="8103526" cy="354747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6"/>
          <p:cNvSpPr txBox="1">
            <a:spLocks noGrp="1"/>
          </p:cNvSpPr>
          <p:nvPr>
            <p:ph type="title"/>
          </p:nvPr>
        </p:nvSpPr>
        <p:spPr>
          <a:xfrm>
            <a:off x="441175" y="421475"/>
            <a:ext cx="4725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Experiments (Li et al.)</a:t>
            </a:r>
            <a:endParaRPr/>
          </a:p>
        </p:txBody>
      </p:sp>
      <p:sp>
        <p:nvSpPr>
          <p:cNvPr id="250" name="Google Shape;250;p36"/>
          <p:cNvSpPr txBox="1">
            <a:spLocks noGrp="1"/>
          </p:cNvSpPr>
          <p:nvPr>
            <p:ph type="body" idx="1"/>
          </p:nvPr>
        </p:nvSpPr>
        <p:spPr>
          <a:xfrm>
            <a:off x="311700" y="1152475"/>
            <a:ext cx="8520600" cy="3846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a:solidFill>
                  <a:schemeClr val="dk1"/>
                </a:solidFill>
              </a:rPr>
              <a:t>Ablation study</a:t>
            </a:r>
            <a:endParaRPr>
              <a:solidFill>
                <a:schemeClr val="dk1"/>
              </a:solidFill>
            </a:endParaRPr>
          </a:p>
        </p:txBody>
      </p:sp>
      <p:sp>
        <p:nvSpPr>
          <p:cNvPr id="251" name="Google Shape;251;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24</a:t>
            </a:fld>
            <a:endParaRPr/>
          </a:p>
        </p:txBody>
      </p:sp>
      <p:pic>
        <p:nvPicPr>
          <p:cNvPr id="252" name="Google Shape;252;p36"/>
          <p:cNvPicPr preferRelativeResize="0"/>
          <p:nvPr/>
        </p:nvPicPr>
        <p:blipFill>
          <a:blip r:embed="rId3">
            <a:alphaModFix/>
          </a:blip>
          <a:stretch>
            <a:fillRect/>
          </a:stretch>
        </p:blipFill>
        <p:spPr>
          <a:xfrm>
            <a:off x="1843088" y="1812213"/>
            <a:ext cx="5457825" cy="962025"/>
          </a:xfrm>
          <a:prstGeom prst="rect">
            <a:avLst/>
          </a:prstGeom>
          <a:noFill/>
          <a:ln>
            <a:noFill/>
          </a:ln>
        </p:spPr>
      </p:pic>
      <p:pic>
        <p:nvPicPr>
          <p:cNvPr id="253" name="Google Shape;253;p36"/>
          <p:cNvPicPr preferRelativeResize="0"/>
          <p:nvPr/>
        </p:nvPicPr>
        <p:blipFill>
          <a:blip r:embed="rId4">
            <a:alphaModFix/>
          </a:blip>
          <a:stretch>
            <a:fillRect/>
          </a:stretch>
        </p:blipFill>
        <p:spPr>
          <a:xfrm>
            <a:off x="1862138" y="3187288"/>
            <a:ext cx="5419725" cy="12573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7"/>
          <p:cNvSpPr txBox="1">
            <a:spLocks noGrp="1"/>
          </p:cNvSpPr>
          <p:nvPr>
            <p:ph type="title"/>
          </p:nvPr>
        </p:nvSpPr>
        <p:spPr>
          <a:xfrm>
            <a:off x="441175" y="421475"/>
            <a:ext cx="4725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Experiments (Li et al.)</a:t>
            </a:r>
            <a:endParaRPr/>
          </a:p>
        </p:txBody>
      </p:sp>
      <p:sp>
        <p:nvSpPr>
          <p:cNvPr id="259" name="Google Shape;259;p37"/>
          <p:cNvSpPr txBox="1">
            <a:spLocks noGrp="1"/>
          </p:cNvSpPr>
          <p:nvPr>
            <p:ph type="body" idx="1"/>
          </p:nvPr>
        </p:nvSpPr>
        <p:spPr>
          <a:xfrm>
            <a:off x="311700" y="1152475"/>
            <a:ext cx="8520600" cy="3846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a:solidFill>
                  <a:schemeClr val="dk1"/>
                </a:solidFill>
              </a:rPr>
              <a:t>Ablation study</a:t>
            </a:r>
            <a:endParaRPr>
              <a:solidFill>
                <a:schemeClr val="dk1"/>
              </a:solidFill>
            </a:endParaRPr>
          </a:p>
        </p:txBody>
      </p:sp>
      <p:sp>
        <p:nvSpPr>
          <p:cNvPr id="260" name="Google Shape;260;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25</a:t>
            </a:fld>
            <a:endParaRPr/>
          </a:p>
        </p:txBody>
      </p:sp>
      <p:pic>
        <p:nvPicPr>
          <p:cNvPr id="261" name="Google Shape;261;p37"/>
          <p:cNvPicPr preferRelativeResize="0"/>
          <p:nvPr/>
        </p:nvPicPr>
        <p:blipFill>
          <a:blip r:embed="rId3">
            <a:alphaModFix/>
          </a:blip>
          <a:stretch>
            <a:fillRect/>
          </a:stretch>
        </p:blipFill>
        <p:spPr>
          <a:xfrm>
            <a:off x="1374038" y="1572975"/>
            <a:ext cx="6395925" cy="1710950"/>
          </a:xfrm>
          <a:prstGeom prst="rect">
            <a:avLst/>
          </a:prstGeom>
          <a:noFill/>
          <a:ln>
            <a:noFill/>
          </a:ln>
        </p:spPr>
      </p:pic>
      <p:pic>
        <p:nvPicPr>
          <p:cNvPr id="262" name="Google Shape;262;p37"/>
          <p:cNvPicPr preferRelativeResize="0"/>
          <p:nvPr/>
        </p:nvPicPr>
        <p:blipFill>
          <a:blip r:embed="rId4">
            <a:alphaModFix/>
          </a:blip>
          <a:stretch>
            <a:fillRect/>
          </a:stretch>
        </p:blipFill>
        <p:spPr>
          <a:xfrm>
            <a:off x="717149" y="3348249"/>
            <a:ext cx="7709701" cy="13149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38"/>
          <p:cNvSpPr txBox="1">
            <a:spLocks noGrp="1"/>
          </p:cNvSpPr>
          <p:nvPr>
            <p:ph type="title"/>
          </p:nvPr>
        </p:nvSpPr>
        <p:spPr>
          <a:xfrm>
            <a:off x="441175" y="421475"/>
            <a:ext cx="4725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Conclusion (Li et al.)</a:t>
            </a:r>
            <a:endParaRPr/>
          </a:p>
        </p:txBody>
      </p:sp>
      <p:sp>
        <p:nvSpPr>
          <p:cNvPr id="268" name="Google Shape;268;p38"/>
          <p:cNvSpPr txBox="1">
            <a:spLocks noGrp="1"/>
          </p:cNvSpPr>
          <p:nvPr>
            <p:ph type="body" idx="1"/>
          </p:nvPr>
        </p:nvSpPr>
        <p:spPr>
          <a:xfrm>
            <a:off x="311700" y="1152475"/>
            <a:ext cx="8709458" cy="3846900"/>
          </a:xfrm>
          <a:prstGeom prst="rect">
            <a:avLst/>
          </a:prstGeom>
        </p:spPr>
        <p:txBody>
          <a:bodyPr spcFirstLastPara="1" wrap="square" lIns="91425" tIns="91425" rIns="91425" bIns="91425" anchor="t" anchorCtr="0">
            <a:normAutofit/>
          </a:bodyPr>
          <a:lstStyle/>
          <a:p>
            <a:pPr>
              <a:buClr>
                <a:schemeClr val="dk1"/>
              </a:buClr>
            </a:pPr>
            <a:r>
              <a:rPr lang="zh-TW" sz="1400" dirty="0">
                <a:solidFill>
                  <a:schemeClr val="dk1"/>
                </a:solidFill>
              </a:rPr>
              <a:t>Propose ODConv, a new dynamic convolution method utilitizing spatial and in/out channel dimension.</a:t>
            </a:r>
            <a:endParaRPr lang="en-US" altLang="zh-TW" sz="1400" dirty="0">
              <a:solidFill>
                <a:schemeClr val="dk1"/>
              </a:solidFill>
            </a:endParaRPr>
          </a:p>
          <a:p>
            <a:pPr>
              <a:buClr>
                <a:schemeClr val="dk1"/>
              </a:buClr>
            </a:pPr>
            <a:r>
              <a:rPr lang="en-US" altLang="zh-TW" sz="1400" dirty="0">
                <a:solidFill>
                  <a:schemeClr val="dk1"/>
                </a:solidFill>
              </a:rPr>
              <a:t>Spatial attention matters more than combination of matrix and channel attention.</a:t>
            </a:r>
          </a:p>
          <a:p>
            <a:pPr>
              <a:buClr>
                <a:schemeClr val="dk1"/>
              </a:buClr>
            </a:pPr>
            <a:r>
              <a:rPr lang="en-US" altLang="zh-TW" sz="1400" dirty="0">
                <a:solidFill>
                  <a:schemeClr val="dk1"/>
                </a:solidFill>
              </a:rPr>
              <a:t>ODConv can surpass previous method with only one weight.</a:t>
            </a:r>
          </a:p>
        </p:txBody>
      </p:sp>
      <p:sp>
        <p:nvSpPr>
          <p:cNvPr id="269" name="Google Shape;269;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9"/>
          <p:cNvSpPr txBox="1">
            <a:spLocks noGrp="1"/>
          </p:cNvSpPr>
          <p:nvPr>
            <p:ph type="title"/>
          </p:nvPr>
        </p:nvSpPr>
        <p:spPr>
          <a:xfrm>
            <a:off x="379000" y="445025"/>
            <a:ext cx="84534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Outline</a:t>
            </a:r>
            <a:endParaRPr/>
          </a:p>
        </p:txBody>
      </p:sp>
      <p:sp>
        <p:nvSpPr>
          <p:cNvPr id="275" name="Google Shape;275;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lt2"/>
              </a:buClr>
              <a:buSzPts val="1800"/>
              <a:buChar char="●"/>
            </a:pPr>
            <a:r>
              <a:rPr lang="zh-TW">
                <a:solidFill>
                  <a:schemeClr val="lt2"/>
                </a:solidFill>
              </a:rPr>
              <a:t>Introduction</a:t>
            </a:r>
            <a:endParaRPr>
              <a:solidFill>
                <a:schemeClr val="lt2"/>
              </a:solidFill>
            </a:endParaRPr>
          </a:p>
          <a:p>
            <a:pPr marL="457200" lvl="0" indent="-342900" algn="l" rtl="0">
              <a:spcBef>
                <a:spcPts val="0"/>
              </a:spcBef>
              <a:spcAft>
                <a:spcPts val="0"/>
              </a:spcAft>
              <a:buClr>
                <a:schemeClr val="lt2"/>
              </a:buClr>
              <a:buSzPts val="1800"/>
              <a:buChar char="●"/>
            </a:pPr>
            <a:r>
              <a:rPr lang="zh-TW">
                <a:solidFill>
                  <a:schemeClr val="lt2"/>
                </a:solidFill>
              </a:rPr>
              <a:t>Related Work</a:t>
            </a:r>
            <a:endParaRPr>
              <a:solidFill>
                <a:schemeClr val="lt2"/>
              </a:solidFill>
            </a:endParaRPr>
          </a:p>
          <a:p>
            <a:pPr marL="457200" lvl="0" indent="-342900" algn="l" rtl="0">
              <a:spcBef>
                <a:spcPts val="0"/>
              </a:spcBef>
              <a:spcAft>
                <a:spcPts val="0"/>
              </a:spcAft>
              <a:buClr>
                <a:schemeClr val="dk1"/>
              </a:buClr>
              <a:buSzPts val="1800"/>
              <a:buChar char="●"/>
            </a:pPr>
            <a:r>
              <a:rPr lang="zh-TW">
                <a:solidFill>
                  <a:schemeClr val="dk1"/>
                </a:solidFill>
              </a:rPr>
              <a:t>Method</a:t>
            </a:r>
            <a:endParaRPr>
              <a:solidFill>
                <a:schemeClr val="dk1"/>
              </a:solidFill>
            </a:endParaRPr>
          </a:p>
          <a:p>
            <a:pPr marL="457200" lvl="0" indent="-342900" algn="l" rtl="0">
              <a:spcBef>
                <a:spcPts val="0"/>
              </a:spcBef>
              <a:spcAft>
                <a:spcPts val="0"/>
              </a:spcAft>
              <a:buClr>
                <a:schemeClr val="lt2"/>
              </a:buClr>
              <a:buSzPts val="1800"/>
              <a:buChar char="●"/>
            </a:pPr>
            <a:r>
              <a:rPr lang="zh-TW">
                <a:solidFill>
                  <a:schemeClr val="lt2"/>
                </a:solidFill>
              </a:rPr>
              <a:t>Experiments</a:t>
            </a:r>
            <a:endParaRPr>
              <a:solidFill>
                <a:schemeClr val="lt2"/>
              </a:solidFill>
            </a:endParaRPr>
          </a:p>
          <a:p>
            <a:pPr marL="457200" lvl="0" indent="-342900" algn="l" rtl="0">
              <a:spcBef>
                <a:spcPts val="0"/>
              </a:spcBef>
              <a:spcAft>
                <a:spcPts val="0"/>
              </a:spcAft>
              <a:buClr>
                <a:schemeClr val="lt2"/>
              </a:buClr>
              <a:buSzPts val="1800"/>
              <a:buChar char="●"/>
            </a:pPr>
            <a:r>
              <a:rPr lang="zh-TW">
                <a:solidFill>
                  <a:schemeClr val="lt2"/>
                </a:solidFill>
              </a:rPr>
              <a:t>Conclusion</a:t>
            </a:r>
            <a:endParaRPr>
              <a:solidFill>
                <a:schemeClr val="lt2"/>
              </a:solidFill>
            </a:endParaRPr>
          </a:p>
        </p:txBody>
      </p:sp>
      <p:sp>
        <p:nvSpPr>
          <p:cNvPr id="276" name="Google Shape;276;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40"/>
          <p:cNvSpPr txBox="1">
            <a:spLocks noGrp="1"/>
          </p:cNvSpPr>
          <p:nvPr>
            <p:ph type="title"/>
          </p:nvPr>
        </p:nvSpPr>
        <p:spPr>
          <a:xfrm>
            <a:off x="441175" y="421475"/>
            <a:ext cx="196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Method</a:t>
            </a:r>
            <a:endParaRPr/>
          </a:p>
        </p:txBody>
      </p:sp>
      <p:sp>
        <p:nvSpPr>
          <p:cNvPr id="282" name="Google Shape;282;p4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a:solidFill>
                  <a:schemeClr val="dk1"/>
                </a:solidFill>
              </a:rPr>
              <a:t>Overview</a:t>
            </a:r>
            <a:endParaRPr>
              <a:solidFill>
                <a:schemeClr val="dk1"/>
              </a:solidFill>
            </a:endParaRPr>
          </a:p>
          <a:p>
            <a:pPr marL="914400" lvl="1" indent="-317500" algn="l" rtl="0">
              <a:spcBef>
                <a:spcPts val="0"/>
              </a:spcBef>
              <a:spcAft>
                <a:spcPts val="0"/>
              </a:spcAft>
              <a:buClr>
                <a:schemeClr val="dk1"/>
              </a:buClr>
              <a:buSzPts val="1400"/>
              <a:buChar char="○"/>
            </a:pPr>
            <a:r>
              <a:rPr lang="zh-TW">
                <a:solidFill>
                  <a:schemeClr val="dk1"/>
                </a:solidFill>
              </a:rPr>
              <a:t>FDW followed by KSM followed by FBM</a:t>
            </a:r>
            <a:endParaRPr>
              <a:solidFill>
                <a:schemeClr val="dk1"/>
              </a:solidFill>
            </a:endParaRPr>
          </a:p>
        </p:txBody>
      </p:sp>
      <p:sp>
        <p:nvSpPr>
          <p:cNvPr id="283" name="Google Shape;283;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28</a:t>
            </a:fld>
            <a:endParaRPr/>
          </a:p>
        </p:txBody>
      </p:sp>
      <p:pic>
        <p:nvPicPr>
          <p:cNvPr id="284" name="Google Shape;284;p40"/>
          <p:cNvPicPr preferRelativeResize="0"/>
          <p:nvPr/>
        </p:nvPicPr>
        <p:blipFill>
          <a:blip r:embed="rId3">
            <a:alphaModFix/>
          </a:blip>
          <a:stretch>
            <a:fillRect/>
          </a:stretch>
        </p:blipFill>
        <p:spPr>
          <a:xfrm>
            <a:off x="1047000" y="1834803"/>
            <a:ext cx="7050000" cy="26514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1"/>
          <p:cNvSpPr txBox="1">
            <a:spLocks noGrp="1"/>
          </p:cNvSpPr>
          <p:nvPr>
            <p:ph type="title"/>
          </p:nvPr>
        </p:nvSpPr>
        <p:spPr>
          <a:xfrm>
            <a:off x="441175" y="421475"/>
            <a:ext cx="196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Method</a:t>
            </a:r>
            <a:endParaRPr/>
          </a:p>
        </p:txBody>
      </p:sp>
      <mc:AlternateContent xmlns:mc="http://schemas.openxmlformats.org/markup-compatibility/2006">
        <mc:Choice xmlns:a14="http://schemas.microsoft.com/office/drawing/2010/main" Requires="a14">
          <p:sp>
            <p:nvSpPr>
              <p:cNvPr id="290" name="Google Shape;290;p41"/>
              <p:cNvSpPr txBox="1">
                <a:spLocks noGrp="1"/>
              </p:cNvSpPr>
              <p:nvPr>
                <p:ph type="body" idx="1"/>
              </p:nvPr>
            </p:nvSpPr>
            <p:spPr>
              <a:xfrm>
                <a:off x="311700" y="1093667"/>
                <a:ext cx="8520600" cy="3569550"/>
              </a:xfrm>
              <a:prstGeom prst="rect">
                <a:avLst/>
              </a:prstGeom>
            </p:spPr>
            <p:txBody>
              <a:bodyPr spcFirstLastPara="1" wrap="square" lIns="91425" tIns="91425" rIns="91425" bIns="91425" anchor="t" anchorCtr="0">
                <a:normAutofit/>
              </a:bodyPr>
              <a:lstStyle/>
              <a:p>
                <a:pPr lvl="0">
                  <a:buClr>
                    <a:schemeClr val="dk1"/>
                  </a:buClr>
                </a:pPr>
                <a:r>
                  <a:rPr lang="zh-TW" altLang="zh-TW" dirty="0">
                    <a:solidFill>
                      <a:schemeClr val="dk1"/>
                    </a:solidFill>
                  </a:rPr>
                  <a:t>Fourier Disjoint Weight (FDW)</a:t>
                </a:r>
                <a:endParaRPr lang="en-US" altLang="zh-TW" dirty="0">
                  <a:solidFill>
                    <a:schemeClr val="dk1"/>
                  </a:solidFill>
                </a:endParaRPr>
              </a:p>
              <a:p>
                <a:pPr lvl="1">
                  <a:buClr>
                    <a:schemeClr val="dk1"/>
                  </a:buClr>
                </a:pPr>
                <a:r>
                  <a:rPr lang="en-US" altLang="zh-TW" dirty="0">
                    <a:solidFill>
                      <a:schemeClr val="dk1"/>
                    </a:solidFill>
                  </a:rPr>
                  <a:t>Total number of params is set to </a:t>
                </a:r>
                <a:r>
                  <a:rPr lang="zh-TW" altLang="en-US" dirty="0">
                    <a:solidFill>
                      <a:schemeClr val="dk1"/>
                    </a:solidFill>
                  </a:rPr>
                  <a:t>𝑘𝐶</a:t>
                </a:r>
                <a:r>
                  <a:rPr lang="en-US" altLang="zh-TW" dirty="0">
                    <a:solidFill>
                      <a:schemeClr val="dk1"/>
                    </a:solidFill>
                  </a:rPr>
                  <a:t>_</a:t>
                </a:r>
                <a:r>
                  <a:rPr lang="zh-TW" altLang="en-US" dirty="0">
                    <a:solidFill>
                      <a:schemeClr val="dk1"/>
                    </a:solidFill>
                  </a:rPr>
                  <a:t>𝑖𝑛</a:t>
                </a:r>
                <a:r>
                  <a:rPr lang="en-US" altLang="zh-TW" dirty="0">
                    <a:solidFill>
                      <a:schemeClr val="dk1"/>
                    </a:solidFill>
                  </a:rPr>
                  <a:t>×</a:t>
                </a:r>
                <a:r>
                  <a:rPr lang="zh-TW" altLang="en-US" dirty="0">
                    <a:solidFill>
                      <a:schemeClr val="dk1"/>
                    </a:solidFill>
                  </a:rPr>
                  <a:t>𝑘𝐶</a:t>
                </a:r>
                <a:r>
                  <a:rPr lang="en-US" altLang="zh-TW" dirty="0">
                    <a:solidFill>
                      <a:schemeClr val="dk1"/>
                    </a:solidFill>
                  </a:rPr>
                  <a:t>_</a:t>
                </a:r>
                <a:r>
                  <a:rPr lang="zh-TW" altLang="en-US" dirty="0">
                    <a:solidFill>
                      <a:schemeClr val="dk1"/>
                    </a:solidFill>
                  </a:rPr>
                  <a:t>𝑜𝑢𝑡</a:t>
                </a:r>
                <a:r>
                  <a:rPr lang="en-US" altLang="zh-TW" dirty="0">
                    <a:solidFill>
                      <a:schemeClr val="dk1"/>
                    </a:solidFill>
                  </a:rPr>
                  <a:t>, representing spectral map of weights.</a:t>
                </a:r>
              </a:p>
              <a:p>
                <a:pPr lvl="1">
                  <a:buClr>
                    <a:schemeClr val="dk1"/>
                  </a:buClr>
                </a:pPr>
                <a:r>
                  <a:rPr lang="en-US" altLang="zh-TW" dirty="0">
                    <a:solidFill>
                      <a:schemeClr val="dk1"/>
                    </a:solidFill>
                  </a:rPr>
                  <a:t>Divide params into 𝑛 groups by </a:t>
                </a:r>
                <a14:m>
                  <m:oMath xmlns:m="http://schemas.openxmlformats.org/officeDocument/2006/math">
                    <m:sSub>
                      <m:sSubPr>
                        <m:ctrlPr>
                          <a:rPr lang="en-US" altLang="zh-TW" i="1" dirty="0">
                            <a:solidFill>
                              <a:schemeClr val="dk1"/>
                            </a:solidFill>
                            <a:latin typeface="Cambria Math" panose="02040503050406030204" pitchFamily="18" charset="0"/>
                          </a:rPr>
                        </m:ctrlPr>
                      </m:sSubPr>
                      <m:e>
                        <m:r>
                          <a:rPr lang="en-US" altLang="zh-TW" i="1" dirty="0">
                            <a:solidFill>
                              <a:schemeClr val="dk1"/>
                            </a:solidFill>
                            <a:latin typeface="Cambria Math" panose="02040503050406030204" pitchFamily="18" charset="0"/>
                          </a:rPr>
                          <m:t>𝐿</m:t>
                        </m:r>
                      </m:e>
                      <m:sub>
                        <m:r>
                          <a:rPr lang="en-US" altLang="zh-TW" i="1" dirty="0">
                            <a:solidFill>
                              <a:schemeClr val="dk1"/>
                            </a:solidFill>
                            <a:latin typeface="Cambria Math" panose="02040503050406030204" pitchFamily="18" charset="0"/>
                          </a:rPr>
                          <m:t>2</m:t>
                        </m:r>
                      </m:sub>
                    </m:sSub>
                  </m:oMath>
                </a14:m>
                <a:r>
                  <a:rPr lang="en-US" altLang="zh-TW" dirty="0">
                    <a:solidFill>
                      <a:schemeClr val="dk1"/>
                    </a:solidFill>
                  </a:rPr>
                  <a:t> norm to spectral center.</a:t>
                </a:r>
              </a:p>
              <a:p>
                <a:pPr lvl="1">
                  <a:buClr>
                    <a:schemeClr val="dk1"/>
                  </a:buClr>
                </a:pPr>
                <a:r>
                  <a:rPr lang="en-US" altLang="zh-TW" dirty="0">
                    <a:solidFill>
                      <a:schemeClr val="dk1"/>
                    </a:solidFill>
                  </a:rPr>
                  <a:t>For </a:t>
                </a:r>
                <a14:m>
                  <m:oMath xmlns:m="http://schemas.openxmlformats.org/officeDocument/2006/math">
                    <m:r>
                      <a:rPr lang="zh-TW" altLang="en-US" i="1" dirty="0">
                        <a:solidFill>
                          <a:schemeClr val="dk1"/>
                        </a:solidFill>
                        <a:latin typeface="Cambria Math" panose="02040503050406030204" pitchFamily="18" charset="0"/>
                      </a:rPr>
                      <m:t>𝑖</m:t>
                    </m:r>
                  </m:oMath>
                </a14:m>
                <a:r>
                  <a:rPr lang="en-US" altLang="zh-TW" dirty="0">
                    <a:solidFill>
                      <a:schemeClr val="dk1"/>
                    </a:solidFill>
                  </a:rPr>
                  <a:t>-th group, apply IDFT and reshape it to </a:t>
                </a:r>
                <a14:m>
                  <m:oMath xmlns:m="http://schemas.openxmlformats.org/officeDocument/2006/math">
                    <m:r>
                      <a:rPr lang="zh-TW" altLang="en-US" i="1">
                        <a:solidFill>
                          <a:schemeClr val="dk1"/>
                        </a:solidFill>
                        <a:latin typeface="Cambria Math" panose="02040503050406030204" pitchFamily="18" charset="0"/>
                      </a:rPr>
                      <m:t>𝑘</m:t>
                    </m:r>
                    <m:r>
                      <a:rPr lang="en-US" altLang="zh-TW" i="1">
                        <a:solidFill>
                          <a:schemeClr val="dk1"/>
                        </a:solidFill>
                        <a:latin typeface="Cambria Math" panose="02040503050406030204" pitchFamily="18" charset="0"/>
                        <a:ea typeface="Cambria Math" panose="02040503050406030204" pitchFamily="18" charset="0"/>
                      </a:rPr>
                      <m:t>×</m:t>
                    </m:r>
                    <m:r>
                      <a:rPr lang="zh-TW" altLang="en-US" i="1">
                        <a:solidFill>
                          <a:schemeClr val="dk1"/>
                        </a:solidFill>
                        <a:latin typeface="Cambria Math" panose="02040503050406030204" pitchFamily="18" charset="0"/>
                        <a:ea typeface="Cambria Math" panose="02040503050406030204" pitchFamily="18" charset="0"/>
                      </a:rPr>
                      <m:t>𝑘</m:t>
                    </m:r>
                    <m:r>
                      <a:rPr lang="en-US" altLang="zh-TW" i="1">
                        <a:solidFill>
                          <a:schemeClr val="dk1"/>
                        </a:solidFill>
                        <a:latin typeface="Cambria Math" panose="02040503050406030204" pitchFamily="18" charset="0"/>
                        <a:ea typeface="Cambria Math" panose="02040503050406030204" pitchFamily="18" charset="0"/>
                      </a:rPr>
                      <m:t>×</m:t>
                    </m:r>
                    <m:sSub>
                      <m:sSubPr>
                        <m:ctrlPr>
                          <a:rPr lang="ar-AE" altLang="zh-TW" i="1">
                            <a:solidFill>
                              <a:schemeClr val="dk1"/>
                            </a:solidFill>
                            <a:latin typeface="Cambria Math" panose="02040503050406030204" pitchFamily="18" charset="0"/>
                            <a:ea typeface="Cambria Math" panose="02040503050406030204" pitchFamily="18" charset="0"/>
                          </a:rPr>
                        </m:ctrlPr>
                      </m:sSubPr>
                      <m:e>
                        <m:r>
                          <a:rPr lang="zh-TW" altLang="ar-AE" i="1">
                            <a:solidFill>
                              <a:schemeClr val="dk1"/>
                            </a:solidFill>
                            <a:latin typeface="Cambria Math" panose="02040503050406030204" pitchFamily="18" charset="0"/>
                            <a:ea typeface="Cambria Math" panose="02040503050406030204" pitchFamily="18" charset="0"/>
                          </a:rPr>
                          <m:t>𝐶</m:t>
                        </m:r>
                      </m:e>
                      <m:sub>
                        <m:r>
                          <a:rPr lang="zh-TW" altLang="ar-AE" i="1">
                            <a:solidFill>
                              <a:schemeClr val="dk1"/>
                            </a:solidFill>
                            <a:latin typeface="Cambria Math" panose="02040503050406030204" pitchFamily="18" charset="0"/>
                            <a:ea typeface="Cambria Math" panose="02040503050406030204" pitchFamily="18" charset="0"/>
                          </a:rPr>
                          <m:t>𝑖𝑛</m:t>
                        </m:r>
                      </m:sub>
                    </m:sSub>
                    <m:r>
                      <a:rPr lang="ar-AE" altLang="zh-TW" i="1">
                        <a:solidFill>
                          <a:schemeClr val="dk1"/>
                        </a:solidFill>
                        <a:latin typeface="Cambria Math" panose="02040503050406030204" pitchFamily="18" charset="0"/>
                        <a:ea typeface="Cambria Math" panose="02040503050406030204" pitchFamily="18" charset="0"/>
                      </a:rPr>
                      <m:t>×</m:t>
                    </m:r>
                    <m:sSub>
                      <m:sSubPr>
                        <m:ctrlPr>
                          <a:rPr lang="ar-AE" altLang="zh-TW" i="1">
                            <a:solidFill>
                              <a:schemeClr val="dk1"/>
                            </a:solidFill>
                            <a:latin typeface="Cambria Math" panose="02040503050406030204" pitchFamily="18" charset="0"/>
                            <a:ea typeface="Cambria Math" panose="02040503050406030204" pitchFamily="18" charset="0"/>
                          </a:rPr>
                        </m:ctrlPr>
                      </m:sSubPr>
                      <m:e>
                        <m:r>
                          <a:rPr lang="zh-TW" altLang="ar-AE" i="1">
                            <a:solidFill>
                              <a:schemeClr val="dk1"/>
                            </a:solidFill>
                            <a:latin typeface="Cambria Math" panose="02040503050406030204" pitchFamily="18" charset="0"/>
                            <a:ea typeface="Cambria Math" panose="02040503050406030204" pitchFamily="18" charset="0"/>
                          </a:rPr>
                          <m:t>𝐶</m:t>
                        </m:r>
                      </m:e>
                      <m:sub>
                        <m:r>
                          <a:rPr lang="zh-TW" altLang="ar-AE" i="1">
                            <a:solidFill>
                              <a:schemeClr val="dk1"/>
                            </a:solidFill>
                            <a:latin typeface="Cambria Math" panose="02040503050406030204" pitchFamily="18" charset="0"/>
                            <a:ea typeface="Cambria Math" panose="02040503050406030204" pitchFamily="18" charset="0"/>
                          </a:rPr>
                          <m:t>𝑜𝑢𝑡</m:t>
                        </m:r>
                      </m:sub>
                    </m:sSub>
                  </m:oMath>
                </a14:m>
                <a:r>
                  <a:rPr lang="ar-AE" altLang="zh-TW" dirty="0">
                    <a:solidFill>
                      <a:schemeClr val="dk1"/>
                    </a:solidFill>
                  </a:rPr>
                  <a:t> </a:t>
                </a:r>
                <a:r>
                  <a:rPr lang="en-US" altLang="zh-TW" dirty="0">
                    <a:solidFill>
                      <a:schemeClr val="dk1"/>
                    </a:solidFill>
                  </a:rPr>
                  <a:t>to form </a:t>
                </a:r>
                <a14:m>
                  <m:oMath xmlns:m="http://schemas.openxmlformats.org/officeDocument/2006/math">
                    <m:sSub>
                      <m:sSubPr>
                        <m:ctrlPr>
                          <a:rPr lang="ar-AE" altLang="zh-TW" i="1">
                            <a:solidFill>
                              <a:schemeClr val="dk1"/>
                            </a:solidFill>
                            <a:latin typeface="Cambria Math" panose="02040503050406030204" pitchFamily="18" charset="0"/>
                          </a:rPr>
                        </m:ctrlPr>
                      </m:sSubPr>
                      <m:e>
                        <m:r>
                          <a:rPr lang="zh-TW" altLang="ar-AE" i="1">
                            <a:solidFill>
                              <a:schemeClr val="dk1"/>
                            </a:solidFill>
                            <a:latin typeface="Cambria Math" panose="02040503050406030204" pitchFamily="18" charset="0"/>
                          </a:rPr>
                          <m:t>𝑊</m:t>
                        </m:r>
                      </m:e>
                      <m:sub>
                        <m:r>
                          <a:rPr lang="zh-TW" altLang="ar-AE" i="1">
                            <a:solidFill>
                              <a:schemeClr val="dk1"/>
                            </a:solidFill>
                            <a:latin typeface="Cambria Math" panose="02040503050406030204" pitchFamily="18" charset="0"/>
                          </a:rPr>
                          <m:t>𝑖</m:t>
                        </m:r>
                      </m:sub>
                    </m:sSub>
                  </m:oMath>
                </a14:m>
                <a:r>
                  <a:rPr lang="ar-AE" altLang="zh-TW" dirty="0">
                    <a:solidFill>
                      <a:schemeClr val="dk1"/>
                    </a:solidFill>
                  </a:rPr>
                  <a:t>.</a:t>
                </a:r>
                <a:endParaRPr lang="en-US" altLang="zh-TW" dirty="0">
                  <a:solidFill>
                    <a:schemeClr val="dk1"/>
                  </a:solidFill>
                </a:endParaRPr>
              </a:p>
              <a:p>
                <a:pPr lvl="1">
                  <a:buClr>
                    <a:schemeClr val="dk1"/>
                  </a:buClr>
                </a:pPr>
                <a:r>
                  <a:rPr lang="en-US" altLang="zh-TW" dirty="0">
                    <a:solidFill>
                      <a:schemeClr val="dk1"/>
                    </a:solidFill>
                  </a:rPr>
                  <a:t>Form dynamic weight as linear combination of </a:t>
                </a:r>
                <a14:m>
                  <m:oMath xmlns:m="http://schemas.openxmlformats.org/officeDocument/2006/math">
                    <m:sSub>
                      <m:sSubPr>
                        <m:ctrlPr>
                          <a:rPr lang="ar-AE" altLang="zh-TW" i="1">
                            <a:solidFill>
                              <a:schemeClr val="dk1"/>
                            </a:solidFill>
                            <a:latin typeface="Cambria Math" panose="02040503050406030204" pitchFamily="18" charset="0"/>
                          </a:rPr>
                        </m:ctrlPr>
                      </m:sSubPr>
                      <m:e>
                        <m:r>
                          <a:rPr lang="zh-TW" altLang="ar-AE" i="1">
                            <a:solidFill>
                              <a:schemeClr val="dk1"/>
                            </a:solidFill>
                            <a:latin typeface="Cambria Math" panose="02040503050406030204" pitchFamily="18" charset="0"/>
                          </a:rPr>
                          <m:t>𝑊</m:t>
                        </m:r>
                      </m:e>
                      <m:sub>
                        <m:r>
                          <a:rPr lang="zh-TW" altLang="ar-AE" i="1">
                            <a:solidFill>
                              <a:schemeClr val="dk1"/>
                            </a:solidFill>
                            <a:latin typeface="Cambria Math" panose="02040503050406030204" pitchFamily="18" charset="0"/>
                          </a:rPr>
                          <m:t>𝑖</m:t>
                        </m:r>
                      </m:sub>
                    </m:sSub>
                  </m:oMath>
                </a14:m>
                <a:r>
                  <a:rPr lang="en-US" altLang="zh-TW" dirty="0">
                    <a:solidFill>
                      <a:schemeClr val="dk1"/>
                    </a:solidFill>
                  </a:rPr>
                  <a:t> and routing function </a:t>
                </a:r>
                <a14:m>
                  <m:oMath xmlns:m="http://schemas.openxmlformats.org/officeDocument/2006/math">
                    <m:sSub>
                      <m:sSubPr>
                        <m:ctrlPr>
                          <a:rPr lang="en-US" altLang="zh-TW" i="1" smtClean="0">
                            <a:solidFill>
                              <a:schemeClr val="dk1"/>
                            </a:solidFill>
                            <a:latin typeface="Cambria Math" panose="02040503050406030204" pitchFamily="18" charset="0"/>
                          </a:rPr>
                        </m:ctrlPr>
                      </m:sSubPr>
                      <m:e>
                        <m:r>
                          <a:rPr lang="zh-TW" altLang="en-US" i="1" smtClean="0">
                            <a:solidFill>
                              <a:schemeClr val="dk1"/>
                            </a:solidFill>
                            <a:latin typeface="Cambria Math" panose="02040503050406030204" pitchFamily="18" charset="0"/>
                          </a:rPr>
                          <m:t>𝜋</m:t>
                        </m:r>
                      </m:e>
                      <m:sub>
                        <m:r>
                          <a:rPr lang="en-US" altLang="zh-TW" b="0" i="1" smtClean="0">
                            <a:solidFill>
                              <a:schemeClr val="dk1"/>
                            </a:solidFill>
                            <a:latin typeface="Cambria Math" panose="02040503050406030204" pitchFamily="18" charset="0"/>
                          </a:rPr>
                          <m:t>𝑖</m:t>
                        </m:r>
                      </m:sub>
                    </m:sSub>
                  </m:oMath>
                </a14:m>
                <a:r>
                  <a:rPr lang="en-US" altLang="zh-TW" dirty="0">
                    <a:solidFill>
                      <a:schemeClr val="dk1"/>
                    </a:solidFill>
                  </a:rPr>
                  <a:t>.</a:t>
                </a:r>
                <a:endParaRPr lang="ar-AE" altLang="zh-TW" dirty="0">
                  <a:solidFill>
                    <a:schemeClr val="dk1"/>
                  </a:solidFill>
                </a:endParaRPr>
              </a:p>
            </p:txBody>
          </p:sp>
        </mc:Choice>
        <mc:Fallback>
          <p:sp>
            <p:nvSpPr>
              <p:cNvPr id="290" name="Google Shape;290;p41"/>
              <p:cNvSpPr txBox="1">
                <a:spLocks noGrp="1" noRot="1" noChangeAspect="1" noMove="1" noResize="1" noEditPoints="1" noAdjustHandles="1" noChangeArrowheads="1" noChangeShapeType="1" noTextEdit="1"/>
              </p:cNvSpPr>
              <p:nvPr>
                <p:ph type="body" idx="1"/>
              </p:nvPr>
            </p:nvSpPr>
            <p:spPr>
              <a:xfrm>
                <a:off x="311700" y="1093667"/>
                <a:ext cx="8520600" cy="3569550"/>
              </a:xfrm>
              <a:prstGeom prst="rect">
                <a:avLst/>
              </a:prstGeom>
              <a:blipFill>
                <a:blip r:embed="rId3"/>
                <a:stretch>
                  <a:fillRect/>
                </a:stretch>
              </a:blipFill>
            </p:spPr>
            <p:txBody>
              <a:bodyPr/>
              <a:lstStyle/>
              <a:p>
                <a:r>
                  <a:rPr lang="zh-TW" altLang="en-US">
                    <a:noFill/>
                  </a:rPr>
                  <a:t> </a:t>
                </a:r>
              </a:p>
            </p:txBody>
          </p:sp>
        </mc:Fallback>
      </mc:AlternateContent>
      <p:sp>
        <p:nvSpPr>
          <p:cNvPr id="291" name="Google Shape;291;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29</a:t>
            </a:fld>
            <a:endParaRPr/>
          </a:p>
        </p:txBody>
      </p:sp>
      <p:pic>
        <p:nvPicPr>
          <p:cNvPr id="4" name="圖片 3">
            <a:extLst>
              <a:ext uri="{FF2B5EF4-FFF2-40B4-BE49-F238E27FC236}">
                <a16:creationId xmlns:a16="http://schemas.microsoft.com/office/drawing/2014/main" id="{BFAAB08D-E866-A6C1-71C7-6E14189FD6A6}"/>
              </a:ext>
            </a:extLst>
          </p:cNvPr>
          <p:cNvPicPr>
            <a:picLocks noChangeAspect="1"/>
          </p:cNvPicPr>
          <p:nvPr/>
        </p:nvPicPr>
        <p:blipFill>
          <a:blip r:embed="rId4"/>
          <a:stretch>
            <a:fillRect/>
          </a:stretch>
        </p:blipFill>
        <p:spPr>
          <a:xfrm>
            <a:off x="671542" y="2860673"/>
            <a:ext cx="4573832" cy="1639843"/>
          </a:xfrm>
          <a:prstGeom prst="rect">
            <a:avLst/>
          </a:prstGeom>
        </p:spPr>
      </p:pic>
      <p:pic>
        <p:nvPicPr>
          <p:cNvPr id="5" name="圖片 4">
            <a:extLst>
              <a:ext uri="{FF2B5EF4-FFF2-40B4-BE49-F238E27FC236}">
                <a16:creationId xmlns:a16="http://schemas.microsoft.com/office/drawing/2014/main" id="{96C5A02D-7CFA-3761-FED8-04CB93656128}"/>
              </a:ext>
            </a:extLst>
          </p:cNvPr>
          <p:cNvPicPr>
            <a:picLocks noChangeAspect="1"/>
          </p:cNvPicPr>
          <p:nvPr/>
        </p:nvPicPr>
        <p:blipFill>
          <a:blip r:embed="rId5"/>
          <a:stretch>
            <a:fillRect/>
          </a:stretch>
        </p:blipFill>
        <p:spPr>
          <a:xfrm>
            <a:off x="6725563" y="2860674"/>
            <a:ext cx="1746895" cy="1639843"/>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2"/>
          <p:cNvSpPr txBox="1">
            <a:spLocks noGrp="1"/>
          </p:cNvSpPr>
          <p:nvPr>
            <p:ph type="title"/>
          </p:nvPr>
        </p:nvSpPr>
        <p:spPr>
          <a:xfrm>
            <a:off x="441175" y="421475"/>
            <a:ext cx="196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Method</a:t>
            </a:r>
            <a:endParaRPr/>
          </a:p>
        </p:txBody>
      </p:sp>
      <mc:AlternateContent xmlns:mc="http://schemas.openxmlformats.org/markup-compatibility/2006">
        <mc:Choice xmlns:a14="http://schemas.microsoft.com/office/drawing/2010/main" Requires="a14">
          <p:sp>
            <p:nvSpPr>
              <p:cNvPr id="298" name="Google Shape;298;p42"/>
              <p:cNvSpPr txBox="1">
                <a:spLocks noGrp="1"/>
              </p:cNvSpPr>
              <p:nvPr>
                <p:ph type="body" idx="1"/>
              </p:nvPr>
            </p:nvSpPr>
            <p:spPr>
              <a:xfrm>
                <a:off x="311700" y="1152475"/>
                <a:ext cx="8436060" cy="3416400"/>
              </a:xfrm>
              <a:prstGeom prst="rect">
                <a:avLst/>
              </a:prstGeom>
            </p:spPr>
            <p:txBody>
              <a:bodyPr spcFirstLastPara="1" wrap="square" lIns="91425" tIns="91425" rIns="91425" bIns="91425" anchor="t" anchorCtr="0">
                <a:normAutofit/>
              </a:bodyPr>
              <a:lstStyle/>
              <a:p>
                <a:r>
                  <a:rPr lang="en-US" altLang="zh-TW" dirty="0">
                    <a:solidFill>
                      <a:schemeClr val="tx1"/>
                    </a:solidFill>
                  </a:rPr>
                  <a:t>Kernel Spatial Modulation (KSM) </a:t>
                </a:r>
              </a:p>
              <a:p>
                <a:pPr lvl="1"/>
                <a:r>
                  <a:rPr lang="en-US" altLang="zh-TW" dirty="0">
                    <a:solidFill>
                      <a:schemeClr val="tx1"/>
                    </a:solidFill>
                  </a:rPr>
                  <a:t>AP </a:t>
                </a:r>
                <a14:m>
                  <m:oMath xmlns:m="http://schemas.openxmlformats.org/officeDocument/2006/math">
                    <m:r>
                      <m:rPr>
                        <m:sty m:val="p"/>
                      </m:rPr>
                      <a:rPr lang="en-US" altLang="zh-TW" i="1" dirty="0">
                        <a:solidFill>
                          <a:schemeClr val="tx1"/>
                        </a:solidFill>
                        <a:latin typeface="Cambria Math" panose="02040503050406030204" pitchFamily="18" charset="0"/>
                      </a:rPr>
                      <m:t>X</m:t>
                    </m:r>
                  </m:oMath>
                </a14:m>
                <a:r>
                  <a:rPr lang="zh-TW" altLang="en-US" dirty="0">
                    <a:solidFill>
                      <a:schemeClr val="tx1"/>
                    </a:solidFill>
                  </a:rPr>
                  <a:t> </a:t>
                </a:r>
                <a:r>
                  <a:rPr lang="en-US" altLang="zh-TW" dirty="0">
                    <a:solidFill>
                      <a:schemeClr val="tx1"/>
                    </a:solidFill>
                  </a:rPr>
                  <a:t>and do Conv1D+sigmoid and reshape them to form local branch.</a:t>
                </a:r>
              </a:p>
              <a:p>
                <a:pPr lvl="1"/>
                <a:r>
                  <a:rPr lang="en-US" altLang="zh-TW" dirty="0">
                    <a:solidFill>
                      <a:schemeClr val="tx1"/>
                    </a:solidFill>
                  </a:rPr>
                  <a:t>AP </a:t>
                </a:r>
                <a14:m>
                  <m:oMath xmlns:m="http://schemas.openxmlformats.org/officeDocument/2006/math">
                    <m:r>
                      <m:rPr>
                        <m:sty m:val="p"/>
                      </m:rPr>
                      <a:rPr lang="en-US" altLang="zh-TW" i="1" dirty="0">
                        <a:solidFill>
                          <a:schemeClr val="tx1"/>
                        </a:solidFill>
                        <a:latin typeface="Cambria Math" panose="02040503050406030204" pitchFamily="18" charset="0"/>
                      </a:rPr>
                      <m:t>X</m:t>
                    </m:r>
                  </m:oMath>
                </a14:m>
                <a:r>
                  <a:rPr lang="zh-TW" altLang="en-US" dirty="0">
                    <a:solidFill>
                      <a:schemeClr val="tx1"/>
                    </a:solidFill>
                  </a:rPr>
                  <a:t> </a:t>
                </a:r>
                <a:r>
                  <a:rPr lang="en-US" altLang="zh-TW" dirty="0">
                    <a:solidFill>
                      <a:schemeClr val="tx1"/>
                    </a:solidFill>
                  </a:rPr>
                  <a:t>and do FC+sigmoid to form three 1D vectors, outer-product them to form global branch.</a:t>
                </a:r>
              </a:p>
              <a:p>
                <a:pPr lvl="1"/>
                <a:r>
                  <a:rPr lang="en-US" altLang="zh-TW" dirty="0">
                    <a:solidFill>
                      <a:schemeClr val="tx1"/>
                    </a:solidFill>
                  </a:rPr>
                  <a:t>Do elementwise multiplication of two branch to form spatial-channel attention mask.</a:t>
                </a:r>
              </a:p>
            </p:txBody>
          </p:sp>
        </mc:Choice>
        <mc:Fallback>
          <p:sp>
            <p:nvSpPr>
              <p:cNvPr id="298" name="Google Shape;298;p42"/>
              <p:cNvSpPr txBox="1">
                <a:spLocks noGrp="1" noRot="1" noChangeAspect="1" noMove="1" noResize="1" noEditPoints="1" noAdjustHandles="1" noChangeArrowheads="1" noChangeShapeType="1" noTextEdit="1"/>
              </p:cNvSpPr>
              <p:nvPr>
                <p:ph type="body" idx="1"/>
              </p:nvPr>
            </p:nvSpPr>
            <p:spPr>
              <a:xfrm>
                <a:off x="311700" y="1152475"/>
                <a:ext cx="8436060" cy="3416400"/>
              </a:xfrm>
              <a:prstGeom prst="rect">
                <a:avLst/>
              </a:prstGeom>
              <a:blipFill>
                <a:blip r:embed="rId3"/>
                <a:stretch>
                  <a:fillRect/>
                </a:stretch>
              </a:blipFill>
            </p:spPr>
            <p:txBody>
              <a:bodyPr/>
              <a:lstStyle/>
              <a:p>
                <a:r>
                  <a:rPr lang="zh-TW" altLang="en-US">
                    <a:noFill/>
                  </a:rPr>
                  <a:t> </a:t>
                </a:r>
              </a:p>
            </p:txBody>
          </p:sp>
        </mc:Fallback>
      </mc:AlternateContent>
      <p:sp>
        <p:nvSpPr>
          <p:cNvPr id="299" name="Google Shape;299;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30</a:t>
            </a:fld>
            <a:endParaRPr/>
          </a:p>
        </p:txBody>
      </p:sp>
      <p:pic>
        <p:nvPicPr>
          <p:cNvPr id="2" name="圖片 1">
            <a:extLst>
              <a:ext uri="{FF2B5EF4-FFF2-40B4-BE49-F238E27FC236}">
                <a16:creationId xmlns:a16="http://schemas.microsoft.com/office/drawing/2014/main" id="{FD0F34F9-518E-200B-E0CA-EC20E32E10A8}"/>
              </a:ext>
            </a:extLst>
          </p:cNvPr>
          <p:cNvPicPr>
            <a:picLocks noChangeAspect="1"/>
          </p:cNvPicPr>
          <p:nvPr/>
        </p:nvPicPr>
        <p:blipFill>
          <a:blip r:embed="rId4"/>
          <a:stretch>
            <a:fillRect/>
          </a:stretch>
        </p:blipFill>
        <p:spPr>
          <a:xfrm>
            <a:off x="1250662" y="2904832"/>
            <a:ext cx="4217248" cy="1545186"/>
          </a:xfrm>
          <a:prstGeom prst="rect">
            <a:avLst/>
          </a:prstGeom>
        </p:spPr>
      </p:pic>
      <p:pic>
        <p:nvPicPr>
          <p:cNvPr id="3" name="圖片 2">
            <a:extLst>
              <a:ext uri="{FF2B5EF4-FFF2-40B4-BE49-F238E27FC236}">
                <a16:creationId xmlns:a16="http://schemas.microsoft.com/office/drawing/2014/main" id="{90384BC1-2B9E-0EFB-864C-15B81F89151C}"/>
              </a:ext>
            </a:extLst>
          </p:cNvPr>
          <p:cNvPicPr>
            <a:picLocks noChangeAspect="1"/>
          </p:cNvPicPr>
          <p:nvPr/>
        </p:nvPicPr>
        <p:blipFill>
          <a:blip r:embed="rId5"/>
          <a:stretch>
            <a:fillRect/>
          </a:stretch>
        </p:blipFill>
        <p:spPr>
          <a:xfrm>
            <a:off x="7303256" y="2785974"/>
            <a:ext cx="1169202" cy="1782901"/>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4">
          <a:extLst>
            <a:ext uri="{FF2B5EF4-FFF2-40B4-BE49-F238E27FC236}">
              <a16:creationId xmlns:a16="http://schemas.microsoft.com/office/drawing/2014/main" id="{4F85DF38-7ADE-9E96-76F7-497E94D4927D}"/>
            </a:ext>
          </a:extLst>
        </p:cNvPr>
        <p:cNvGrpSpPr/>
        <p:nvPr/>
      </p:nvGrpSpPr>
      <p:grpSpPr>
        <a:xfrm>
          <a:off x="0" y="0"/>
          <a:ext cx="0" cy="0"/>
          <a:chOff x="0" y="0"/>
          <a:chExt cx="0" cy="0"/>
        </a:xfrm>
      </p:grpSpPr>
      <p:sp>
        <p:nvSpPr>
          <p:cNvPr id="305" name="Google Shape;305;p43">
            <a:extLst>
              <a:ext uri="{FF2B5EF4-FFF2-40B4-BE49-F238E27FC236}">
                <a16:creationId xmlns:a16="http://schemas.microsoft.com/office/drawing/2014/main" id="{22CB4D66-5ACD-57C6-8FD3-E6A631C71759}"/>
              </a:ext>
            </a:extLst>
          </p:cNvPr>
          <p:cNvSpPr txBox="1">
            <a:spLocks noGrp="1"/>
          </p:cNvSpPr>
          <p:nvPr>
            <p:ph type="title"/>
          </p:nvPr>
        </p:nvSpPr>
        <p:spPr>
          <a:xfrm>
            <a:off x="441175" y="421475"/>
            <a:ext cx="196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Method</a:t>
            </a:r>
            <a:endParaRPr/>
          </a:p>
        </p:txBody>
      </p:sp>
      <mc:AlternateContent xmlns:mc="http://schemas.openxmlformats.org/markup-compatibility/2006">
        <mc:Choice xmlns:a14="http://schemas.microsoft.com/office/drawing/2010/main" Requires="a14">
          <p:sp>
            <p:nvSpPr>
              <p:cNvPr id="306" name="Google Shape;306;p43">
                <a:extLst>
                  <a:ext uri="{FF2B5EF4-FFF2-40B4-BE49-F238E27FC236}">
                    <a16:creationId xmlns:a16="http://schemas.microsoft.com/office/drawing/2014/main" id="{8DD6CFFE-20F3-8786-79E7-93602097D740}"/>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r>
                  <a:rPr lang="en-US" altLang="zh-TW" dirty="0">
                    <a:solidFill>
                      <a:schemeClr val="tx1"/>
                    </a:solidFill>
                  </a:rPr>
                  <a:t>Frequency Band Modulation (FBM) </a:t>
                </a:r>
              </a:p>
              <a:p>
                <a:pPr lvl="1"/>
                <a:r>
                  <a:rPr lang="en-US" altLang="zh-TW" dirty="0">
                    <a:solidFill>
                      <a:schemeClr val="tx1"/>
                    </a:solidFill>
                  </a:rPr>
                  <a:t>For each </a:t>
                </a:r>
                <a14:m>
                  <m:oMath xmlns:m="http://schemas.openxmlformats.org/officeDocument/2006/math">
                    <m:r>
                      <a:rPr lang="en-US" altLang="zh-TW" i="1">
                        <a:solidFill>
                          <a:schemeClr val="tx1"/>
                        </a:solidFill>
                        <a:latin typeface="Cambria Math" panose="02040503050406030204" pitchFamily="18" charset="0"/>
                      </a:rPr>
                      <m:t>𝑘</m:t>
                    </m:r>
                    <m:r>
                      <a:rPr lang="en-US" altLang="zh-TW" i="1">
                        <a:solidFill>
                          <a:schemeClr val="tx1"/>
                        </a:solidFill>
                        <a:latin typeface="Cambria Math" panose="02040503050406030204" pitchFamily="18" charset="0"/>
                        <a:ea typeface="Cambria Math" panose="02040503050406030204" pitchFamily="18" charset="0"/>
                      </a:rPr>
                      <m:t>×</m:t>
                    </m:r>
                    <m:r>
                      <a:rPr lang="en-US" altLang="zh-TW" i="1">
                        <a:solidFill>
                          <a:schemeClr val="tx1"/>
                        </a:solidFill>
                        <a:latin typeface="Cambria Math" panose="02040503050406030204" pitchFamily="18" charset="0"/>
                        <a:ea typeface="Cambria Math" panose="02040503050406030204" pitchFamily="18" charset="0"/>
                      </a:rPr>
                      <m:t>𝑘</m:t>
                    </m:r>
                  </m:oMath>
                </a14:m>
                <a:r>
                  <a:rPr lang="en-US" altLang="zh-TW" dirty="0">
                    <a:solidFill>
                      <a:schemeClr val="tx1"/>
                    </a:solidFill>
                  </a:rPr>
                  <a:t> kernels </a:t>
                </a:r>
                <a14:m>
                  <m:oMath xmlns:m="http://schemas.openxmlformats.org/officeDocument/2006/math">
                    <m:r>
                      <a:rPr lang="en-US" altLang="zh-TW" i="1" dirty="0">
                        <a:solidFill>
                          <a:schemeClr val="tx1"/>
                        </a:solidFill>
                        <a:latin typeface="Cambria Math" panose="02040503050406030204" pitchFamily="18" charset="0"/>
                      </a:rPr>
                      <m:t>𝑊</m:t>
                    </m:r>
                  </m:oMath>
                </a14:m>
                <a:r>
                  <a:rPr lang="en-US" altLang="zh-TW" dirty="0">
                    <a:solidFill>
                      <a:schemeClr val="tx1"/>
                    </a:solidFill>
                  </a:rPr>
                  <a:t> of each input/output channels, do:</a:t>
                </a:r>
              </a:p>
              <a:p>
                <a:pPr lvl="1"/>
                <a:r>
                  <a:rPr lang="en-US" altLang="zh-TW" dirty="0">
                    <a:solidFill>
                      <a:schemeClr val="tx1"/>
                    </a:solidFill>
                  </a:rPr>
                  <a:t>Do Fourier transform to get </a:t>
                </a:r>
                <a14:m>
                  <m:oMath xmlns:m="http://schemas.openxmlformats.org/officeDocument/2006/math">
                    <m:r>
                      <a:rPr lang="en-US" altLang="zh-TW" i="1">
                        <a:solidFill>
                          <a:schemeClr val="tx1"/>
                        </a:solidFill>
                        <a:latin typeface="Cambria Math" panose="02040503050406030204" pitchFamily="18" charset="0"/>
                        <a:ea typeface="Cambria Math" panose="02040503050406030204" pitchFamily="18" charset="0"/>
                      </a:rPr>
                      <m:t>ℱ</m:t>
                    </m:r>
                    <m:d>
                      <m:dPr>
                        <m:ctrlPr>
                          <a:rPr lang="en-US" altLang="zh-TW" i="1">
                            <a:solidFill>
                              <a:schemeClr val="tx1"/>
                            </a:solidFill>
                            <a:latin typeface="Cambria Math" panose="02040503050406030204" pitchFamily="18" charset="0"/>
                            <a:ea typeface="Cambria Math" panose="02040503050406030204" pitchFamily="18" charset="0"/>
                          </a:rPr>
                        </m:ctrlPr>
                      </m:dPr>
                      <m:e>
                        <m:r>
                          <a:rPr lang="en-US" altLang="zh-TW" i="1">
                            <a:solidFill>
                              <a:schemeClr val="tx1"/>
                            </a:solidFill>
                            <a:latin typeface="Cambria Math" panose="02040503050406030204" pitchFamily="18" charset="0"/>
                            <a:ea typeface="Cambria Math" panose="02040503050406030204" pitchFamily="18" charset="0"/>
                          </a:rPr>
                          <m:t>𝑊</m:t>
                        </m:r>
                      </m:e>
                    </m:d>
                  </m:oMath>
                </a14:m>
                <a:r>
                  <a:rPr lang="en-US" altLang="zh-TW" dirty="0">
                    <a:solidFill>
                      <a:schemeClr val="tx1"/>
                    </a:solidFill>
                    <a:ea typeface="Cambria Math" panose="02040503050406030204" pitchFamily="18" charset="0"/>
                  </a:rPr>
                  <a:t>.</a:t>
                </a:r>
              </a:p>
              <a:p>
                <a:pPr lvl="1"/>
                <a:r>
                  <a:rPr lang="en-US" altLang="zh-TW" dirty="0">
                    <a:solidFill>
                      <a:schemeClr val="tx1"/>
                    </a:solidFill>
                  </a:rPr>
                  <a:t>Divide </a:t>
                </a:r>
                <a14:m>
                  <m:oMath xmlns:m="http://schemas.openxmlformats.org/officeDocument/2006/math">
                    <m:r>
                      <a:rPr lang="en-US" altLang="zh-TW" i="1">
                        <a:solidFill>
                          <a:schemeClr val="tx1"/>
                        </a:solidFill>
                        <a:latin typeface="Cambria Math" panose="02040503050406030204" pitchFamily="18" charset="0"/>
                        <a:ea typeface="Cambria Math" panose="02040503050406030204" pitchFamily="18" charset="0"/>
                      </a:rPr>
                      <m:t>ℱ</m:t>
                    </m:r>
                    <m:d>
                      <m:dPr>
                        <m:ctrlPr>
                          <a:rPr lang="en-US" altLang="zh-TW" i="1">
                            <a:solidFill>
                              <a:schemeClr val="tx1"/>
                            </a:solidFill>
                            <a:latin typeface="Cambria Math" panose="02040503050406030204" pitchFamily="18" charset="0"/>
                            <a:ea typeface="Cambria Math" panose="02040503050406030204" pitchFamily="18" charset="0"/>
                          </a:rPr>
                        </m:ctrlPr>
                      </m:dPr>
                      <m:e>
                        <m:r>
                          <a:rPr lang="en-US" altLang="zh-TW" i="1">
                            <a:solidFill>
                              <a:schemeClr val="tx1"/>
                            </a:solidFill>
                            <a:latin typeface="Cambria Math" panose="02040503050406030204" pitchFamily="18" charset="0"/>
                            <a:ea typeface="Cambria Math" panose="02040503050406030204" pitchFamily="18" charset="0"/>
                          </a:rPr>
                          <m:t>𝑊</m:t>
                        </m:r>
                      </m:e>
                    </m:d>
                  </m:oMath>
                </a14:m>
                <a:r>
                  <a:rPr lang="en-US" altLang="zh-TW" dirty="0">
                    <a:solidFill>
                      <a:schemeClr val="tx1"/>
                    </a:solidFill>
                  </a:rPr>
                  <a:t> into </a:t>
                </a:r>
                <a14:m>
                  <m:oMath xmlns:m="http://schemas.openxmlformats.org/officeDocument/2006/math">
                    <m:r>
                      <a:rPr lang="en-US" altLang="zh-TW" i="1">
                        <a:solidFill>
                          <a:schemeClr val="tx1"/>
                        </a:solidFill>
                        <a:latin typeface="Cambria Math" panose="02040503050406030204" pitchFamily="18" charset="0"/>
                      </a:rPr>
                      <m:t>𝐵</m:t>
                    </m:r>
                  </m:oMath>
                </a14:m>
                <a:r>
                  <a:rPr lang="en-US" altLang="zh-TW" dirty="0">
                    <a:solidFill>
                      <a:schemeClr val="tx1"/>
                    </a:solidFill>
                  </a:rPr>
                  <a:t> groups by </a:t>
                </a:r>
                <a14:m>
                  <m:oMath xmlns:m="http://schemas.openxmlformats.org/officeDocument/2006/math">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panose="02040503050406030204" pitchFamily="18" charset="0"/>
                          </a:rPr>
                          <m:t>𝐿</m:t>
                        </m:r>
                      </m:e>
                      <m:sub>
                        <m:r>
                          <a:rPr lang="en-US" altLang="zh-TW" i="1">
                            <a:solidFill>
                              <a:schemeClr val="tx1"/>
                            </a:solidFill>
                            <a:latin typeface="Cambria Math" panose="02040503050406030204" pitchFamily="18" charset="0"/>
                            <a:ea typeface="Cambria Math" panose="02040503050406030204" pitchFamily="18" charset="0"/>
                          </a:rPr>
                          <m:t>∞</m:t>
                        </m:r>
                      </m:sub>
                    </m:sSub>
                  </m:oMath>
                </a14:m>
                <a:r>
                  <a:rPr lang="en-US" altLang="zh-TW" dirty="0">
                    <a:solidFill>
                      <a:schemeClr val="tx1"/>
                    </a:solidFill>
                  </a:rPr>
                  <a:t> norm in spectral map.</a:t>
                </a:r>
              </a:p>
              <a:p>
                <a:pPr lvl="1"/>
                <a:r>
                  <a:rPr lang="en-US" altLang="zh-TW" dirty="0">
                    <a:solidFill>
                      <a:schemeClr val="tx1"/>
                    </a:solidFill>
                  </a:rPr>
                  <a:t>Do inverse Fourier transform for each group to form </a:t>
                </a:r>
                <a14:m>
                  <m:oMath xmlns:m="http://schemas.openxmlformats.org/officeDocument/2006/math">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panose="02040503050406030204" pitchFamily="18" charset="0"/>
                          </a:rPr>
                          <m:t>𝑊</m:t>
                        </m:r>
                      </m:e>
                      <m:sub>
                        <m:r>
                          <a:rPr lang="en-US" altLang="zh-TW" i="1">
                            <a:solidFill>
                              <a:schemeClr val="tx1"/>
                            </a:solidFill>
                            <a:latin typeface="Cambria Math" panose="02040503050406030204" pitchFamily="18" charset="0"/>
                          </a:rPr>
                          <m:t>𝑏</m:t>
                        </m:r>
                      </m:sub>
                    </m:sSub>
                  </m:oMath>
                </a14:m>
                <a:r>
                  <a:rPr lang="en-US" altLang="zh-TW" dirty="0">
                    <a:solidFill>
                      <a:schemeClr val="tx1"/>
                    </a:solidFill>
                  </a:rPr>
                  <a:t> </a:t>
                </a:r>
              </a:p>
              <a:p>
                <a:pPr marL="596900" lvl="1" indent="0">
                  <a:buNone/>
                </a:pPr>
                <a:endParaRPr lang="en-US" altLang="zh-TW" dirty="0">
                  <a:solidFill>
                    <a:schemeClr val="tx1"/>
                  </a:solidFill>
                </a:endParaRPr>
              </a:p>
              <a:p>
                <a:pPr marL="596900" lvl="1" indent="0">
                  <a:buNone/>
                </a:pPr>
                <a:endParaRPr lang="en-US" altLang="zh-TW" dirty="0">
                  <a:solidFill>
                    <a:schemeClr val="tx1"/>
                  </a:solidFill>
                </a:endParaRPr>
              </a:p>
              <a:p>
                <a:pPr lvl="1"/>
                <a:r>
                  <a:rPr lang="en-US" altLang="zh-TW" dirty="0">
                    <a:solidFill>
                      <a:schemeClr val="tx1"/>
                    </a:solidFill>
                  </a:rPr>
                  <a:t>Convolve </a:t>
                </a:r>
                <a14:m>
                  <m:oMath xmlns:m="http://schemas.openxmlformats.org/officeDocument/2006/math">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panose="02040503050406030204" pitchFamily="18" charset="0"/>
                          </a:rPr>
                          <m:t>𝑊</m:t>
                        </m:r>
                      </m:e>
                      <m:sub>
                        <m:r>
                          <a:rPr lang="en-US" altLang="zh-TW" i="1">
                            <a:solidFill>
                              <a:schemeClr val="tx1"/>
                            </a:solidFill>
                            <a:latin typeface="Cambria Math" panose="02040503050406030204" pitchFamily="18" charset="0"/>
                          </a:rPr>
                          <m:t>𝑏</m:t>
                        </m:r>
                      </m:sub>
                    </m:sSub>
                  </m:oMath>
                </a14:m>
                <a:r>
                  <a:rPr lang="en-US" altLang="zh-TW" dirty="0">
                    <a:solidFill>
                      <a:schemeClr val="tx1"/>
                    </a:solidFill>
                  </a:rPr>
                  <a:t> with </a:t>
                </a:r>
                <a14:m>
                  <m:oMath xmlns:m="http://schemas.openxmlformats.org/officeDocument/2006/math">
                    <m:r>
                      <a:rPr lang="en-US" altLang="zh-TW" i="1" dirty="0">
                        <a:solidFill>
                          <a:schemeClr val="tx1"/>
                        </a:solidFill>
                        <a:latin typeface="Cambria Math" panose="02040503050406030204" pitchFamily="18" charset="0"/>
                      </a:rPr>
                      <m:t>𝑋</m:t>
                    </m:r>
                  </m:oMath>
                </a14:m>
                <a:r>
                  <a:rPr lang="en-US" altLang="zh-TW" dirty="0">
                    <a:solidFill>
                      <a:schemeClr val="tx1"/>
                    </a:solidFill>
                  </a:rPr>
                  <a:t> to get </a:t>
                </a:r>
                <a14:m>
                  <m:oMath xmlns:m="http://schemas.openxmlformats.org/officeDocument/2006/math">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panose="02040503050406030204" pitchFamily="18" charset="0"/>
                          </a:rPr>
                          <m:t>𝑌</m:t>
                        </m:r>
                      </m:e>
                      <m:sub>
                        <m:r>
                          <a:rPr lang="en-US" altLang="zh-TW" i="1">
                            <a:solidFill>
                              <a:schemeClr val="tx1"/>
                            </a:solidFill>
                            <a:latin typeface="Cambria Math" panose="02040503050406030204" pitchFamily="18" charset="0"/>
                          </a:rPr>
                          <m:t>𝑏</m:t>
                        </m:r>
                      </m:sub>
                    </m:sSub>
                  </m:oMath>
                </a14:m>
                <a:r>
                  <a:rPr lang="en-US" altLang="zh-TW" dirty="0">
                    <a:solidFill>
                      <a:schemeClr val="tx1"/>
                    </a:solidFill>
                  </a:rPr>
                  <a:t>.</a:t>
                </a:r>
              </a:p>
              <a:p>
                <a:pPr lvl="1"/>
                <a:endParaRPr lang="en-US" altLang="zh-TW" dirty="0">
                  <a:solidFill>
                    <a:schemeClr val="tx1"/>
                  </a:solidFill>
                </a:endParaRPr>
              </a:p>
              <a:p>
                <a:pPr lvl="1"/>
                <a:endParaRPr lang="en-US" altLang="zh-TW" dirty="0">
                  <a:solidFill>
                    <a:schemeClr val="tx1"/>
                  </a:solidFill>
                </a:endParaRPr>
              </a:p>
              <a:p>
                <a:pPr lvl="1"/>
                <a:r>
                  <a:rPr lang="en-US" altLang="zh-TW" dirty="0">
                    <a:solidFill>
                      <a:schemeClr val="tx1"/>
                    </a:solidFill>
                  </a:rPr>
                  <a:t>Apply spatial modulation</a:t>
                </a:r>
                <a:r>
                  <a:rPr lang="zh-TW" altLang="en-US" dirty="0">
                    <a:solidFill>
                      <a:schemeClr val="tx1"/>
                    </a:solidFill>
                  </a:rPr>
                  <a:t> </a:t>
                </a:r>
                <a:r>
                  <a:rPr lang="en-US" altLang="zh-TW" dirty="0">
                    <a:solidFill>
                      <a:schemeClr val="tx1"/>
                    </a:solidFill>
                  </a:rPr>
                  <a:t>mask </a:t>
                </a:r>
                <a14:m>
                  <m:oMath xmlns:m="http://schemas.openxmlformats.org/officeDocument/2006/math">
                    <m:sSub>
                      <m:sSubPr>
                        <m:ctrlPr>
                          <a:rPr lang="en-US" altLang="zh-TW" i="1">
                            <a:solidFill>
                              <a:schemeClr val="tx1"/>
                            </a:solidFill>
                            <a:latin typeface="Cambria Math" panose="02040503050406030204" pitchFamily="18" charset="0"/>
                          </a:rPr>
                        </m:ctrlPr>
                      </m:sSubPr>
                      <m:e>
                        <m:r>
                          <a:rPr lang="en-US" altLang="zh-TW" i="1">
                            <a:solidFill>
                              <a:schemeClr val="tx1"/>
                            </a:solidFill>
                            <a:latin typeface="Cambria Math" panose="02040503050406030204" pitchFamily="18" charset="0"/>
                          </a:rPr>
                          <m:t>𝐴</m:t>
                        </m:r>
                      </m:e>
                      <m:sub>
                        <m:r>
                          <a:rPr lang="en-US" altLang="zh-TW" b="0" i="1" smtClean="0">
                            <a:solidFill>
                              <a:schemeClr val="tx1"/>
                            </a:solidFill>
                            <a:latin typeface="Cambria Math" panose="02040503050406030204" pitchFamily="18" charset="0"/>
                          </a:rPr>
                          <m:t>𝑏</m:t>
                        </m:r>
                      </m:sub>
                    </m:sSub>
                  </m:oMath>
                </a14:m>
                <a:r>
                  <a:rPr lang="en-US" altLang="zh-TW" dirty="0">
                    <a:solidFill>
                      <a:schemeClr val="tx1"/>
                    </a:solidFill>
                  </a:rPr>
                  <a:t> to </a:t>
                </a:r>
                <a14:m>
                  <m:oMath xmlns:m="http://schemas.openxmlformats.org/officeDocument/2006/math">
                    <m:sSub>
                      <m:sSubPr>
                        <m:ctrlPr>
                          <a:rPr lang="en-US" altLang="zh-TW" i="1">
                            <a:solidFill>
                              <a:schemeClr val="tx1"/>
                            </a:solidFill>
                            <a:latin typeface="Cambria Math" panose="02040503050406030204" pitchFamily="18" charset="0"/>
                          </a:rPr>
                        </m:ctrlPr>
                      </m:sSubPr>
                      <m:e>
                        <m:r>
                          <m:rPr>
                            <m:sty m:val="p"/>
                          </m:rPr>
                          <a:rPr lang="en-US" altLang="zh-TW" i="1">
                            <a:solidFill>
                              <a:schemeClr val="tx1"/>
                            </a:solidFill>
                            <a:latin typeface="Cambria Math" panose="02040503050406030204" pitchFamily="18" charset="0"/>
                          </a:rPr>
                          <m:t>Y</m:t>
                        </m:r>
                      </m:e>
                      <m:sub>
                        <m:r>
                          <a:rPr lang="en-US" altLang="zh-TW" i="1">
                            <a:solidFill>
                              <a:schemeClr val="tx1"/>
                            </a:solidFill>
                            <a:latin typeface="Cambria Math" panose="02040503050406030204" pitchFamily="18" charset="0"/>
                          </a:rPr>
                          <m:t>𝑏</m:t>
                        </m:r>
                      </m:sub>
                    </m:sSub>
                  </m:oMath>
                </a14:m>
                <a:r>
                  <a:rPr lang="en-US" altLang="zh-TW" dirty="0">
                    <a:solidFill>
                      <a:schemeClr val="tx1"/>
                    </a:solidFill>
                  </a:rPr>
                  <a:t> and sum up to get </a:t>
                </a:r>
                <a14:m>
                  <m:oMath xmlns:m="http://schemas.openxmlformats.org/officeDocument/2006/math">
                    <m:r>
                      <a:rPr lang="en-US" altLang="zh-TW" b="0" i="1" smtClean="0">
                        <a:solidFill>
                          <a:schemeClr val="tx1"/>
                        </a:solidFill>
                        <a:latin typeface="Cambria Math" panose="02040503050406030204" pitchFamily="18" charset="0"/>
                      </a:rPr>
                      <m:t>𝑌</m:t>
                    </m:r>
                  </m:oMath>
                </a14:m>
                <a:r>
                  <a:rPr lang="en-US" altLang="zh-TW" dirty="0">
                    <a:solidFill>
                      <a:schemeClr val="tx1"/>
                    </a:solidFill>
                  </a:rPr>
                  <a:t>.</a:t>
                </a:r>
              </a:p>
              <a:p>
                <a:endParaRPr lang="en-US" altLang="zh-TW" dirty="0">
                  <a:solidFill>
                    <a:schemeClr val="tx1"/>
                  </a:solidFill>
                </a:endParaRPr>
              </a:p>
            </p:txBody>
          </p:sp>
        </mc:Choice>
        <mc:Fallback>
          <p:sp>
            <p:nvSpPr>
              <p:cNvPr id="306" name="Google Shape;306;p43">
                <a:extLst>
                  <a:ext uri="{FF2B5EF4-FFF2-40B4-BE49-F238E27FC236}">
                    <a16:creationId xmlns:a16="http://schemas.microsoft.com/office/drawing/2014/main" id="{8DD6CFFE-20F3-8786-79E7-93602097D740}"/>
                  </a:ext>
                </a:extLst>
              </p:cNvPr>
              <p:cNvSpPr txBox="1">
                <a:spLocks noGrp="1" noRot="1" noChangeAspect="1" noMove="1" noResize="1" noEditPoints="1" noAdjustHandles="1" noChangeArrowheads="1" noChangeShapeType="1" noTextEdit="1"/>
              </p:cNvSpPr>
              <p:nvPr>
                <p:ph type="body" idx="1"/>
              </p:nvPr>
            </p:nvSpPr>
            <p:spPr>
              <a:xfrm>
                <a:off x="311700" y="1152475"/>
                <a:ext cx="8520600" cy="3416400"/>
              </a:xfrm>
              <a:prstGeom prst="rect">
                <a:avLst/>
              </a:prstGeom>
              <a:blipFill>
                <a:blip r:embed="rId3"/>
                <a:stretch>
                  <a:fillRect/>
                </a:stretch>
              </a:blipFill>
            </p:spPr>
            <p:txBody>
              <a:bodyPr/>
              <a:lstStyle/>
              <a:p>
                <a:r>
                  <a:rPr lang="zh-TW" altLang="en-US">
                    <a:noFill/>
                  </a:rPr>
                  <a:t> </a:t>
                </a:r>
              </a:p>
            </p:txBody>
          </p:sp>
        </mc:Fallback>
      </mc:AlternateContent>
      <p:sp>
        <p:nvSpPr>
          <p:cNvPr id="307" name="Google Shape;307;p43">
            <a:extLst>
              <a:ext uri="{FF2B5EF4-FFF2-40B4-BE49-F238E27FC236}">
                <a16:creationId xmlns:a16="http://schemas.microsoft.com/office/drawing/2014/main" id="{3F52DAEA-D44B-B343-CCCA-07DB264551D3}"/>
              </a:ext>
            </a:extLst>
          </p:cNvPr>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31</a:t>
            </a:fld>
            <a:endParaRPr/>
          </a:p>
        </p:txBody>
      </p:sp>
      <p:pic>
        <p:nvPicPr>
          <p:cNvPr id="2" name="圖片 1">
            <a:extLst>
              <a:ext uri="{FF2B5EF4-FFF2-40B4-BE49-F238E27FC236}">
                <a16:creationId xmlns:a16="http://schemas.microsoft.com/office/drawing/2014/main" id="{3C1D9462-D69F-C139-2F14-084F8BF31337}"/>
              </a:ext>
            </a:extLst>
          </p:cNvPr>
          <p:cNvPicPr>
            <a:picLocks noChangeAspect="1"/>
          </p:cNvPicPr>
          <p:nvPr/>
        </p:nvPicPr>
        <p:blipFill>
          <a:blip r:embed="rId4"/>
          <a:stretch>
            <a:fillRect/>
          </a:stretch>
        </p:blipFill>
        <p:spPr>
          <a:xfrm>
            <a:off x="6134100" y="2535060"/>
            <a:ext cx="2698199" cy="2128157"/>
          </a:xfrm>
          <a:prstGeom prst="rect">
            <a:avLst/>
          </a:prstGeom>
        </p:spPr>
      </p:pic>
      <p:pic>
        <p:nvPicPr>
          <p:cNvPr id="3" name="圖片 2">
            <a:extLst>
              <a:ext uri="{FF2B5EF4-FFF2-40B4-BE49-F238E27FC236}">
                <a16:creationId xmlns:a16="http://schemas.microsoft.com/office/drawing/2014/main" id="{EEDD0325-F4F4-913B-7CF4-5EF9CC798BA3}"/>
              </a:ext>
            </a:extLst>
          </p:cNvPr>
          <p:cNvPicPr>
            <a:picLocks noChangeAspect="1"/>
          </p:cNvPicPr>
          <p:nvPr/>
        </p:nvPicPr>
        <p:blipFill>
          <a:blip r:embed="rId5"/>
          <a:stretch>
            <a:fillRect/>
          </a:stretch>
        </p:blipFill>
        <p:spPr>
          <a:xfrm>
            <a:off x="2490787" y="2679840"/>
            <a:ext cx="2343150" cy="323850"/>
          </a:xfrm>
          <a:prstGeom prst="rect">
            <a:avLst/>
          </a:prstGeom>
        </p:spPr>
      </p:pic>
      <p:pic>
        <p:nvPicPr>
          <p:cNvPr id="4" name="圖片 3">
            <a:extLst>
              <a:ext uri="{FF2B5EF4-FFF2-40B4-BE49-F238E27FC236}">
                <a16:creationId xmlns:a16="http://schemas.microsoft.com/office/drawing/2014/main" id="{E5EF8150-D6ED-7EB2-6092-7F50CDE12286}"/>
              </a:ext>
            </a:extLst>
          </p:cNvPr>
          <p:cNvPicPr>
            <a:picLocks noChangeAspect="1"/>
          </p:cNvPicPr>
          <p:nvPr/>
        </p:nvPicPr>
        <p:blipFill>
          <a:blip r:embed="rId6"/>
          <a:stretch>
            <a:fillRect/>
          </a:stretch>
        </p:blipFill>
        <p:spPr>
          <a:xfrm>
            <a:off x="2542814" y="3400520"/>
            <a:ext cx="1257300" cy="257175"/>
          </a:xfrm>
          <a:prstGeom prst="rect">
            <a:avLst/>
          </a:prstGeom>
        </p:spPr>
      </p:pic>
      <p:pic>
        <p:nvPicPr>
          <p:cNvPr id="5" name="圖片 4">
            <a:extLst>
              <a:ext uri="{FF2B5EF4-FFF2-40B4-BE49-F238E27FC236}">
                <a16:creationId xmlns:a16="http://schemas.microsoft.com/office/drawing/2014/main" id="{659AA585-81DB-E6D0-25A7-4D1F7FA2AF64}"/>
              </a:ext>
            </a:extLst>
          </p:cNvPr>
          <p:cNvPicPr>
            <a:picLocks noChangeAspect="1"/>
          </p:cNvPicPr>
          <p:nvPr/>
        </p:nvPicPr>
        <p:blipFill>
          <a:blip r:embed="rId7"/>
          <a:stretch>
            <a:fillRect/>
          </a:stretch>
        </p:blipFill>
        <p:spPr>
          <a:xfrm>
            <a:off x="2490787" y="4054525"/>
            <a:ext cx="1767248" cy="693946"/>
          </a:xfrm>
          <a:prstGeom prst="rect">
            <a:avLst/>
          </a:prstGeom>
        </p:spPr>
      </p:pic>
    </p:spTree>
    <p:extLst>
      <p:ext uri="{BB962C8B-B14F-4D97-AF65-F5344CB8AC3E}">
        <p14:creationId xmlns:p14="http://schemas.microsoft.com/office/powerpoint/2010/main" val="18163172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44"/>
          <p:cNvSpPr txBox="1">
            <a:spLocks noGrp="1"/>
          </p:cNvSpPr>
          <p:nvPr>
            <p:ph type="title"/>
          </p:nvPr>
        </p:nvSpPr>
        <p:spPr>
          <a:xfrm>
            <a:off x="441175" y="421475"/>
            <a:ext cx="196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Method</a:t>
            </a:r>
            <a:endParaRPr/>
          </a:p>
        </p:txBody>
      </p:sp>
      <p:sp>
        <p:nvSpPr>
          <p:cNvPr id="314" name="Google Shape;314;p4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r>
              <a:rPr lang="en-US" altLang="zh-TW" dirty="0">
                <a:solidFill>
                  <a:schemeClr val="tx1"/>
                </a:solidFill>
              </a:rPr>
              <a:t>Frequency Band Modulation (FBM) </a:t>
            </a:r>
          </a:p>
          <a:p>
            <a:pPr lvl="1"/>
            <a:r>
              <a:rPr lang="en-US" altLang="zh-TW" dirty="0"/>
              <a:t>The process can</a:t>
            </a:r>
            <a:r>
              <a:rPr lang="zh-TW" altLang="en-US" dirty="0"/>
              <a:t> </a:t>
            </a:r>
            <a:r>
              <a:rPr lang="en-US" altLang="zh-TW" dirty="0"/>
              <a:t>also be rewritten as:</a:t>
            </a:r>
          </a:p>
        </p:txBody>
      </p:sp>
      <p:sp>
        <p:nvSpPr>
          <p:cNvPr id="315" name="Google Shape;315;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32</a:t>
            </a:fld>
            <a:endParaRPr/>
          </a:p>
        </p:txBody>
      </p:sp>
      <p:pic>
        <p:nvPicPr>
          <p:cNvPr id="2" name="圖片 1">
            <a:extLst>
              <a:ext uri="{FF2B5EF4-FFF2-40B4-BE49-F238E27FC236}">
                <a16:creationId xmlns:a16="http://schemas.microsoft.com/office/drawing/2014/main" id="{2CF8CA1D-A56A-AA67-838E-E26C775C07BE}"/>
              </a:ext>
            </a:extLst>
          </p:cNvPr>
          <p:cNvPicPr>
            <a:picLocks noChangeAspect="1"/>
          </p:cNvPicPr>
          <p:nvPr/>
        </p:nvPicPr>
        <p:blipFill>
          <a:blip r:embed="rId3"/>
          <a:stretch>
            <a:fillRect/>
          </a:stretch>
        </p:blipFill>
        <p:spPr>
          <a:xfrm>
            <a:off x="2971800" y="1925850"/>
            <a:ext cx="3200400" cy="361950"/>
          </a:xfrm>
          <a:prstGeom prst="rect">
            <a:avLst/>
          </a:prstGeom>
        </p:spPr>
      </p:pic>
      <p:pic>
        <p:nvPicPr>
          <p:cNvPr id="3" name="圖片 2">
            <a:extLst>
              <a:ext uri="{FF2B5EF4-FFF2-40B4-BE49-F238E27FC236}">
                <a16:creationId xmlns:a16="http://schemas.microsoft.com/office/drawing/2014/main" id="{788ED825-2419-5056-67BB-6BC376D29F5B}"/>
              </a:ext>
            </a:extLst>
          </p:cNvPr>
          <p:cNvPicPr>
            <a:picLocks noChangeAspect="1"/>
          </p:cNvPicPr>
          <p:nvPr/>
        </p:nvPicPr>
        <p:blipFill>
          <a:blip r:embed="rId4"/>
          <a:stretch>
            <a:fillRect/>
          </a:stretch>
        </p:blipFill>
        <p:spPr>
          <a:xfrm>
            <a:off x="3181170" y="2469232"/>
            <a:ext cx="2781660" cy="219398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45"/>
          <p:cNvSpPr txBox="1">
            <a:spLocks noGrp="1"/>
          </p:cNvSpPr>
          <p:nvPr>
            <p:ph type="title"/>
          </p:nvPr>
        </p:nvSpPr>
        <p:spPr>
          <a:xfrm>
            <a:off x="379000" y="445025"/>
            <a:ext cx="84534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Outline</a:t>
            </a:r>
            <a:endParaRPr/>
          </a:p>
        </p:txBody>
      </p:sp>
      <p:sp>
        <p:nvSpPr>
          <p:cNvPr id="322" name="Google Shape;322;p4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lt2"/>
              </a:buClr>
              <a:buSzPts val="1800"/>
              <a:buChar char="●"/>
            </a:pPr>
            <a:r>
              <a:rPr lang="zh-TW">
                <a:solidFill>
                  <a:schemeClr val="lt2"/>
                </a:solidFill>
              </a:rPr>
              <a:t>Introduction</a:t>
            </a:r>
            <a:endParaRPr>
              <a:solidFill>
                <a:schemeClr val="lt2"/>
              </a:solidFill>
            </a:endParaRPr>
          </a:p>
          <a:p>
            <a:pPr marL="457200" lvl="0" indent="-342900" algn="l" rtl="0">
              <a:spcBef>
                <a:spcPts val="0"/>
              </a:spcBef>
              <a:spcAft>
                <a:spcPts val="0"/>
              </a:spcAft>
              <a:buClr>
                <a:schemeClr val="lt2"/>
              </a:buClr>
              <a:buSzPts val="1800"/>
              <a:buChar char="●"/>
            </a:pPr>
            <a:r>
              <a:rPr lang="zh-TW">
                <a:solidFill>
                  <a:schemeClr val="lt2"/>
                </a:solidFill>
              </a:rPr>
              <a:t>Related Work</a:t>
            </a:r>
            <a:endParaRPr>
              <a:solidFill>
                <a:schemeClr val="lt2"/>
              </a:solidFill>
            </a:endParaRPr>
          </a:p>
          <a:p>
            <a:pPr marL="457200" lvl="0" indent="-342900" algn="l" rtl="0">
              <a:spcBef>
                <a:spcPts val="0"/>
              </a:spcBef>
              <a:spcAft>
                <a:spcPts val="0"/>
              </a:spcAft>
              <a:buClr>
                <a:schemeClr val="lt2"/>
              </a:buClr>
              <a:buSzPts val="1800"/>
              <a:buChar char="●"/>
            </a:pPr>
            <a:r>
              <a:rPr lang="zh-TW">
                <a:solidFill>
                  <a:schemeClr val="lt2"/>
                </a:solidFill>
              </a:rPr>
              <a:t>Method</a:t>
            </a:r>
            <a:endParaRPr>
              <a:solidFill>
                <a:schemeClr val="lt2"/>
              </a:solidFill>
            </a:endParaRPr>
          </a:p>
          <a:p>
            <a:pPr marL="457200" lvl="0" indent="-342900" algn="l" rtl="0">
              <a:spcBef>
                <a:spcPts val="0"/>
              </a:spcBef>
              <a:spcAft>
                <a:spcPts val="0"/>
              </a:spcAft>
              <a:buClr>
                <a:schemeClr val="dk1"/>
              </a:buClr>
              <a:buSzPts val="1800"/>
              <a:buChar char="●"/>
            </a:pPr>
            <a:r>
              <a:rPr lang="zh-TW">
                <a:solidFill>
                  <a:schemeClr val="dk1"/>
                </a:solidFill>
              </a:rPr>
              <a:t>Experiments</a:t>
            </a:r>
            <a:endParaRPr>
              <a:solidFill>
                <a:schemeClr val="dk1"/>
              </a:solidFill>
            </a:endParaRPr>
          </a:p>
          <a:p>
            <a:pPr marL="457200" lvl="0" indent="-342900" algn="l" rtl="0">
              <a:spcBef>
                <a:spcPts val="0"/>
              </a:spcBef>
              <a:spcAft>
                <a:spcPts val="0"/>
              </a:spcAft>
              <a:buClr>
                <a:schemeClr val="lt2"/>
              </a:buClr>
              <a:buSzPts val="1800"/>
              <a:buChar char="●"/>
            </a:pPr>
            <a:r>
              <a:rPr lang="zh-TW">
                <a:solidFill>
                  <a:schemeClr val="lt2"/>
                </a:solidFill>
              </a:rPr>
              <a:t>Conclusion</a:t>
            </a:r>
            <a:endParaRPr>
              <a:solidFill>
                <a:schemeClr val="lt2"/>
              </a:solidFill>
            </a:endParaRPr>
          </a:p>
        </p:txBody>
      </p:sp>
      <p:sp>
        <p:nvSpPr>
          <p:cNvPr id="323" name="Google Shape;323;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46"/>
          <p:cNvSpPr txBox="1">
            <a:spLocks noGrp="1"/>
          </p:cNvSpPr>
          <p:nvPr>
            <p:ph type="title"/>
          </p:nvPr>
        </p:nvSpPr>
        <p:spPr>
          <a:xfrm>
            <a:off x="441175" y="421475"/>
            <a:ext cx="196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Experiments</a:t>
            </a:r>
            <a:endParaRPr/>
          </a:p>
        </p:txBody>
      </p:sp>
      <p:sp>
        <p:nvSpPr>
          <p:cNvPr id="329" name="Google Shape;329;p46"/>
          <p:cNvSpPr txBox="1">
            <a:spLocks noGrp="1"/>
          </p:cNvSpPr>
          <p:nvPr>
            <p:ph type="body" idx="1"/>
          </p:nvPr>
        </p:nvSpPr>
        <p:spPr>
          <a:xfrm>
            <a:off x="311700" y="1152475"/>
            <a:ext cx="8520600" cy="3713100"/>
          </a:xfrm>
          <a:prstGeom prst="rect">
            <a:avLst/>
          </a:prstGeom>
        </p:spPr>
        <p:txBody>
          <a:bodyPr spcFirstLastPara="1" wrap="square" lIns="91425" tIns="91425" rIns="91425" bIns="91425" anchor="t" anchorCtr="0">
            <a:normAutofit/>
          </a:bodyPr>
          <a:lstStyle/>
          <a:p>
            <a:pPr marL="914400" lvl="0" indent="-342900" algn="l" rtl="0">
              <a:spcBef>
                <a:spcPts val="0"/>
              </a:spcBef>
              <a:spcAft>
                <a:spcPts val="0"/>
              </a:spcAft>
              <a:buClr>
                <a:schemeClr val="dk1"/>
              </a:buClr>
              <a:buSzPts val="1800"/>
              <a:buChar char="●"/>
            </a:pPr>
            <a:r>
              <a:rPr lang="zh-TW">
                <a:solidFill>
                  <a:schemeClr val="dk1"/>
                </a:solidFill>
              </a:rPr>
              <a:t>Object Detection and segmentation on COCO with ResNet50</a:t>
            </a:r>
            <a:endParaRPr>
              <a:solidFill>
                <a:schemeClr val="dk1"/>
              </a:solidFill>
            </a:endParaRPr>
          </a:p>
        </p:txBody>
      </p:sp>
      <p:sp>
        <p:nvSpPr>
          <p:cNvPr id="330" name="Google Shape;330;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34</a:t>
            </a:fld>
            <a:endParaRPr/>
          </a:p>
        </p:txBody>
      </p:sp>
      <p:pic>
        <p:nvPicPr>
          <p:cNvPr id="331" name="Google Shape;331;p46"/>
          <p:cNvPicPr preferRelativeResize="0"/>
          <p:nvPr/>
        </p:nvPicPr>
        <p:blipFill>
          <a:blip r:embed="rId3">
            <a:alphaModFix/>
          </a:blip>
          <a:stretch>
            <a:fillRect/>
          </a:stretch>
        </p:blipFill>
        <p:spPr>
          <a:xfrm>
            <a:off x="1938038" y="1545225"/>
            <a:ext cx="5267925" cy="332034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47"/>
          <p:cNvSpPr txBox="1">
            <a:spLocks noGrp="1"/>
          </p:cNvSpPr>
          <p:nvPr>
            <p:ph type="title"/>
          </p:nvPr>
        </p:nvSpPr>
        <p:spPr>
          <a:xfrm>
            <a:off x="441175" y="421475"/>
            <a:ext cx="196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Experiments</a:t>
            </a:r>
            <a:endParaRPr/>
          </a:p>
        </p:txBody>
      </p:sp>
      <p:sp>
        <p:nvSpPr>
          <p:cNvPr id="337" name="Google Shape;337;p47"/>
          <p:cNvSpPr txBox="1">
            <a:spLocks noGrp="1"/>
          </p:cNvSpPr>
          <p:nvPr>
            <p:ph type="body" idx="1"/>
          </p:nvPr>
        </p:nvSpPr>
        <p:spPr>
          <a:xfrm>
            <a:off x="311700" y="1152475"/>
            <a:ext cx="8520600" cy="3713100"/>
          </a:xfrm>
          <a:prstGeom prst="rect">
            <a:avLst/>
          </a:prstGeom>
        </p:spPr>
        <p:txBody>
          <a:bodyPr spcFirstLastPara="1" wrap="square" lIns="91425" tIns="91425" rIns="91425" bIns="91425" anchor="t" anchorCtr="0">
            <a:normAutofit/>
          </a:bodyPr>
          <a:lstStyle/>
          <a:p>
            <a:pPr marL="914400" lvl="0" indent="-342900" algn="l" rtl="0">
              <a:spcBef>
                <a:spcPts val="0"/>
              </a:spcBef>
              <a:spcAft>
                <a:spcPts val="0"/>
              </a:spcAft>
              <a:buClr>
                <a:schemeClr val="dk1"/>
              </a:buClr>
              <a:buSzPts val="1800"/>
              <a:buChar char="●"/>
            </a:pPr>
            <a:r>
              <a:rPr lang="zh-TW">
                <a:solidFill>
                  <a:schemeClr val="dk1"/>
                </a:solidFill>
              </a:rPr>
              <a:t>Object Detection and segmentation on COCO with Mask R-CNN</a:t>
            </a:r>
            <a:endParaRPr>
              <a:solidFill>
                <a:schemeClr val="dk1"/>
              </a:solidFill>
            </a:endParaRPr>
          </a:p>
        </p:txBody>
      </p:sp>
      <p:sp>
        <p:nvSpPr>
          <p:cNvPr id="338" name="Google Shape;338;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35</a:t>
            </a:fld>
            <a:endParaRPr/>
          </a:p>
        </p:txBody>
      </p:sp>
      <p:pic>
        <p:nvPicPr>
          <p:cNvPr id="339" name="Google Shape;339;p47"/>
          <p:cNvPicPr preferRelativeResize="0"/>
          <p:nvPr/>
        </p:nvPicPr>
        <p:blipFill>
          <a:blip r:embed="rId3">
            <a:alphaModFix/>
          </a:blip>
          <a:stretch>
            <a:fillRect/>
          </a:stretch>
        </p:blipFill>
        <p:spPr>
          <a:xfrm>
            <a:off x="1944550" y="1797075"/>
            <a:ext cx="5254900" cy="19910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8"/>
          <p:cNvSpPr txBox="1">
            <a:spLocks noGrp="1"/>
          </p:cNvSpPr>
          <p:nvPr>
            <p:ph type="body" idx="1"/>
          </p:nvPr>
        </p:nvSpPr>
        <p:spPr>
          <a:xfrm>
            <a:off x="311700" y="1152475"/>
            <a:ext cx="8520600" cy="37131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a:solidFill>
                  <a:schemeClr val="dk1"/>
                </a:solidFill>
              </a:rPr>
              <a:t>ADE20K semantic segmentation with UPerNet </a:t>
            </a:r>
            <a:endParaRPr>
              <a:solidFill>
                <a:schemeClr val="dk1"/>
              </a:solidFill>
            </a:endParaRPr>
          </a:p>
          <a:p>
            <a:pPr marL="0" lvl="0" indent="0" algn="l" rtl="0">
              <a:spcBef>
                <a:spcPts val="1200"/>
              </a:spcBef>
              <a:spcAft>
                <a:spcPts val="1200"/>
              </a:spcAft>
              <a:buNone/>
            </a:pPr>
            <a:endParaRPr>
              <a:solidFill>
                <a:schemeClr val="dk1"/>
              </a:solidFill>
            </a:endParaRPr>
          </a:p>
        </p:txBody>
      </p:sp>
      <p:sp>
        <p:nvSpPr>
          <p:cNvPr id="345" name="Google Shape;345;p48"/>
          <p:cNvSpPr txBox="1">
            <a:spLocks noGrp="1"/>
          </p:cNvSpPr>
          <p:nvPr>
            <p:ph type="title"/>
          </p:nvPr>
        </p:nvSpPr>
        <p:spPr>
          <a:xfrm>
            <a:off x="441175" y="421475"/>
            <a:ext cx="196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Experiments</a:t>
            </a:r>
            <a:endParaRPr/>
          </a:p>
        </p:txBody>
      </p:sp>
      <p:sp>
        <p:nvSpPr>
          <p:cNvPr id="346" name="Google Shape;346;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36</a:t>
            </a:fld>
            <a:endParaRPr/>
          </a:p>
        </p:txBody>
      </p:sp>
      <p:pic>
        <p:nvPicPr>
          <p:cNvPr id="347" name="Google Shape;347;p48"/>
          <p:cNvPicPr preferRelativeResize="0"/>
          <p:nvPr/>
        </p:nvPicPr>
        <p:blipFill>
          <a:blip r:embed="rId3">
            <a:alphaModFix/>
          </a:blip>
          <a:stretch>
            <a:fillRect/>
          </a:stretch>
        </p:blipFill>
        <p:spPr>
          <a:xfrm>
            <a:off x="1990725" y="1951750"/>
            <a:ext cx="5162550" cy="21145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49"/>
          <p:cNvSpPr txBox="1">
            <a:spLocks noGrp="1"/>
          </p:cNvSpPr>
          <p:nvPr>
            <p:ph type="body" idx="1"/>
          </p:nvPr>
        </p:nvSpPr>
        <p:spPr>
          <a:xfrm>
            <a:off x="311700" y="1152475"/>
            <a:ext cx="8520600" cy="37131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a:solidFill>
                  <a:schemeClr val="dk1"/>
                </a:solidFill>
              </a:rPr>
              <a:t>Cityscapes semantic segmentation with Mask2Former</a:t>
            </a:r>
            <a:endParaRPr>
              <a:solidFill>
                <a:schemeClr val="dk1"/>
              </a:solidFill>
            </a:endParaRPr>
          </a:p>
          <a:p>
            <a:pPr marL="0" lvl="0" indent="0" algn="l" rtl="0">
              <a:spcBef>
                <a:spcPts val="1200"/>
              </a:spcBef>
              <a:spcAft>
                <a:spcPts val="1200"/>
              </a:spcAft>
              <a:buNone/>
            </a:pPr>
            <a:endParaRPr>
              <a:solidFill>
                <a:schemeClr val="dk1"/>
              </a:solidFill>
            </a:endParaRPr>
          </a:p>
        </p:txBody>
      </p:sp>
      <p:sp>
        <p:nvSpPr>
          <p:cNvPr id="353" name="Google Shape;353;p49"/>
          <p:cNvSpPr txBox="1">
            <a:spLocks noGrp="1"/>
          </p:cNvSpPr>
          <p:nvPr>
            <p:ph type="title"/>
          </p:nvPr>
        </p:nvSpPr>
        <p:spPr>
          <a:xfrm>
            <a:off x="441175" y="421475"/>
            <a:ext cx="196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Experiments</a:t>
            </a:r>
            <a:endParaRPr/>
          </a:p>
        </p:txBody>
      </p:sp>
      <p:sp>
        <p:nvSpPr>
          <p:cNvPr id="354" name="Google Shape;354;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37</a:t>
            </a:fld>
            <a:endParaRPr/>
          </a:p>
        </p:txBody>
      </p:sp>
      <p:pic>
        <p:nvPicPr>
          <p:cNvPr id="355" name="Google Shape;355;p49"/>
          <p:cNvPicPr preferRelativeResize="0"/>
          <p:nvPr/>
        </p:nvPicPr>
        <p:blipFill>
          <a:blip r:embed="rId3">
            <a:alphaModFix/>
          </a:blip>
          <a:stretch>
            <a:fillRect/>
          </a:stretch>
        </p:blipFill>
        <p:spPr>
          <a:xfrm>
            <a:off x="2321387" y="2484225"/>
            <a:ext cx="4501225" cy="10496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50"/>
          <p:cNvSpPr txBox="1">
            <a:spLocks noGrp="1"/>
          </p:cNvSpPr>
          <p:nvPr>
            <p:ph type="body" idx="1"/>
          </p:nvPr>
        </p:nvSpPr>
        <p:spPr>
          <a:xfrm>
            <a:off x="311700" y="1152475"/>
            <a:ext cx="8520600" cy="37131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a:solidFill>
                  <a:schemeClr val="dk1"/>
                </a:solidFill>
              </a:rPr>
              <a:t>ADE20K semantic segmentation with Mask2Former and MaskDINO</a:t>
            </a:r>
            <a:endParaRPr>
              <a:solidFill>
                <a:schemeClr val="dk1"/>
              </a:solidFill>
            </a:endParaRPr>
          </a:p>
          <a:p>
            <a:pPr marL="1371600" lvl="1" indent="-317500" algn="l" rtl="0">
              <a:spcBef>
                <a:spcPts val="0"/>
              </a:spcBef>
              <a:spcAft>
                <a:spcPts val="0"/>
              </a:spcAft>
              <a:buClr>
                <a:schemeClr val="dk1"/>
              </a:buClr>
              <a:buSzPts val="1400"/>
              <a:buChar char="○"/>
            </a:pPr>
            <a:r>
              <a:rPr lang="zh-TW">
                <a:solidFill>
                  <a:schemeClr val="dk1"/>
                </a:solidFill>
              </a:rPr>
              <a:t>backbones are pretrained with ImageNet-22K</a:t>
            </a:r>
            <a:endParaRPr>
              <a:solidFill>
                <a:schemeClr val="dk1"/>
              </a:solidFill>
            </a:endParaRPr>
          </a:p>
          <a:p>
            <a:pPr marL="0" lvl="0" indent="0" algn="l" rtl="0">
              <a:spcBef>
                <a:spcPts val="1200"/>
              </a:spcBef>
              <a:spcAft>
                <a:spcPts val="1200"/>
              </a:spcAft>
              <a:buNone/>
            </a:pPr>
            <a:endParaRPr>
              <a:solidFill>
                <a:schemeClr val="dk1"/>
              </a:solidFill>
            </a:endParaRPr>
          </a:p>
        </p:txBody>
      </p:sp>
      <p:sp>
        <p:nvSpPr>
          <p:cNvPr id="361" name="Google Shape;361;p50"/>
          <p:cNvSpPr txBox="1">
            <a:spLocks noGrp="1"/>
          </p:cNvSpPr>
          <p:nvPr>
            <p:ph type="title"/>
          </p:nvPr>
        </p:nvSpPr>
        <p:spPr>
          <a:xfrm>
            <a:off x="441175" y="421475"/>
            <a:ext cx="196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Experiments</a:t>
            </a:r>
            <a:endParaRPr/>
          </a:p>
        </p:txBody>
      </p:sp>
      <p:sp>
        <p:nvSpPr>
          <p:cNvPr id="362" name="Google Shape;362;p5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38</a:t>
            </a:fld>
            <a:endParaRPr/>
          </a:p>
        </p:txBody>
      </p:sp>
      <p:pic>
        <p:nvPicPr>
          <p:cNvPr id="363" name="Google Shape;363;p50"/>
          <p:cNvPicPr preferRelativeResize="0"/>
          <p:nvPr/>
        </p:nvPicPr>
        <p:blipFill>
          <a:blip r:embed="rId3">
            <a:alphaModFix/>
          </a:blip>
          <a:stretch>
            <a:fillRect/>
          </a:stretch>
        </p:blipFill>
        <p:spPr>
          <a:xfrm>
            <a:off x="2490775" y="2251775"/>
            <a:ext cx="4162425" cy="15144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51"/>
          <p:cNvSpPr txBox="1">
            <a:spLocks noGrp="1"/>
          </p:cNvSpPr>
          <p:nvPr>
            <p:ph type="body" idx="1"/>
          </p:nvPr>
        </p:nvSpPr>
        <p:spPr>
          <a:xfrm>
            <a:off x="311700" y="1152475"/>
            <a:ext cx="8520600" cy="37131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a:solidFill>
                  <a:schemeClr val="dk1"/>
                </a:solidFill>
              </a:rPr>
              <a:t>Ablation studies</a:t>
            </a:r>
            <a:endParaRPr>
              <a:solidFill>
                <a:schemeClr val="dk1"/>
              </a:solidFill>
            </a:endParaRPr>
          </a:p>
          <a:p>
            <a:pPr marL="0" lvl="0" indent="0" algn="l" rtl="0">
              <a:spcBef>
                <a:spcPts val="1200"/>
              </a:spcBef>
              <a:spcAft>
                <a:spcPts val="1200"/>
              </a:spcAft>
              <a:buNone/>
            </a:pPr>
            <a:endParaRPr>
              <a:solidFill>
                <a:schemeClr val="dk1"/>
              </a:solidFill>
            </a:endParaRPr>
          </a:p>
        </p:txBody>
      </p:sp>
      <p:sp>
        <p:nvSpPr>
          <p:cNvPr id="369" name="Google Shape;369;p51"/>
          <p:cNvSpPr txBox="1">
            <a:spLocks noGrp="1"/>
          </p:cNvSpPr>
          <p:nvPr>
            <p:ph type="title"/>
          </p:nvPr>
        </p:nvSpPr>
        <p:spPr>
          <a:xfrm>
            <a:off x="441175" y="421475"/>
            <a:ext cx="196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Experiments</a:t>
            </a:r>
            <a:endParaRPr/>
          </a:p>
        </p:txBody>
      </p:sp>
      <p:sp>
        <p:nvSpPr>
          <p:cNvPr id="370" name="Google Shape;370;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39</a:t>
            </a:fld>
            <a:endParaRPr/>
          </a:p>
        </p:txBody>
      </p:sp>
      <p:pic>
        <p:nvPicPr>
          <p:cNvPr id="371" name="Google Shape;371;p51"/>
          <p:cNvPicPr preferRelativeResize="0"/>
          <p:nvPr/>
        </p:nvPicPr>
        <p:blipFill>
          <a:blip r:embed="rId3">
            <a:alphaModFix/>
          </a:blip>
          <a:stretch>
            <a:fillRect/>
          </a:stretch>
        </p:blipFill>
        <p:spPr>
          <a:xfrm>
            <a:off x="2683438" y="994163"/>
            <a:ext cx="4343400" cy="1628775"/>
          </a:xfrm>
          <a:prstGeom prst="rect">
            <a:avLst/>
          </a:prstGeom>
          <a:noFill/>
          <a:ln>
            <a:noFill/>
          </a:ln>
        </p:spPr>
      </p:pic>
      <p:pic>
        <p:nvPicPr>
          <p:cNvPr id="372" name="Google Shape;372;p51"/>
          <p:cNvPicPr preferRelativeResize="0"/>
          <p:nvPr/>
        </p:nvPicPr>
        <p:blipFill>
          <a:blip r:embed="rId4">
            <a:alphaModFix/>
          </a:blip>
          <a:stretch>
            <a:fillRect/>
          </a:stretch>
        </p:blipFill>
        <p:spPr>
          <a:xfrm>
            <a:off x="2297638" y="2637538"/>
            <a:ext cx="5115018" cy="742950"/>
          </a:xfrm>
          <a:prstGeom prst="rect">
            <a:avLst/>
          </a:prstGeom>
          <a:noFill/>
          <a:ln>
            <a:noFill/>
          </a:ln>
        </p:spPr>
      </p:pic>
      <p:pic>
        <p:nvPicPr>
          <p:cNvPr id="373" name="Google Shape;373;p51"/>
          <p:cNvPicPr preferRelativeResize="0"/>
          <p:nvPr/>
        </p:nvPicPr>
        <p:blipFill>
          <a:blip r:embed="rId5">
            <a:alphaModFix/>
          </a:blip>
          <a:stretch>
            <a:fillRect/>
          </a:stretch>
        </p:blipFill>
        <p:spPr>
          <a:xfrm>
            <a:off x="2273875" y="3395088"/>
            <a:ext cx="5162550" cy="14382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52"/>
          <p:cNvSpPr txBox="1">
            <a:spLocks noGrp="1"/>
          </p:cNvSpPr>
          <p:nvPr>
            <p:ph type="body" idx="1"/>
          </p:nvPr>
        </p:nvSpPr>
        <p:spPr>
          <a:xfrm>
            <a:off x="311700" y="1152475"/>
            <a:ext cx="8520600" cy="37131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a:solidFill>
                  <a:schemeClr val="dk1"/>
                </a:solidFill>
              </a:rPr>
              <a:t>Ablation studies</a:t>
            </a:r>
            <a:endParaRPr>
              <a:solidFill>
                <a:schemeClr val="dk1"/>
              </a:solidFill>
            </a:endParaRPr>
          </a:p>
          <a:p>
            <a:pPr marL="0" lvl="0" indent="0" algn="l" rtl="0">
              <a:spcBef>
                <a:spcPts val="1200"/>
              </a:spcBef>
              <a:spcAft>
                <a:spcPts val="1200"/>
              </a:spcAft>
              <a:buNone/>
            </a:pPr>
            <a:endParaRPr>
              <a:solidFill>
                <a:schemeClr val="dk1"/>
              </a:solidFill>
            </a:endParaRPr>
          </a:p>
        </p:txBody>
      </p:sp>
      <p:sp>
        <p:nvSpPr>
          <p:cNvPr id="379" name="Google Shape;379;p52"/>
          <p:cNvSpPr txBox="1">
            <a:spLocks noGrp="1"/>
          </p:cNvSpPr>
          <p:nvPr>
            <p:ph type="title"/>
          </p:nvPr>
        </p:nvSpPr>
        <p:spPr>
          <a:xfrm>
            <a:off x="441175" y="421475"/>
            <a:ext cx="196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Experiments</a:t>
            </a:r>
            <a:endParaRPr/>
          </a:p>
        </p:txBody>
      </p:sp>
      <p:sp>
        <p:nvSpPr>
          <p:cNvPr id="380" name="Google Shape;380;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40</a:t>
            </a:fld>
            <a:endParaRPr/>
          </a:p>
        </p:txBody>
      </p:sp>
      <p:pic>
        <p:nvPicPr>
          <p:cNvPr id="381" name="Google Shape;381;p52"/>
          <p:cNvPicPr preferRelativeResize="0"/>
          <p:nvPr/>
        </p:nvPicPr>
        <p:blipFill>
          <a:blip r:embed="rId3">
            <a:alphaModFix/>
          </a:blip>
          <a:stretch>
            <a:fillRect/>
          </a:stretch>
        </p:blipFill>
        <p:spPr>
          <a:xfrm>
            <a:off x="1804975" y="2004125"/>
            <a:ext cx="5534025" cy="200977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3"/>
          <p:cNvSpPr txBox="1">
            <a:spLocks noGrp="1"/>
          </p:cNvSpPr>
          <p:nvPr>
            <p:ph type="title"/>
          </p:nvPr>
        </p:nvSpPr>
        <p:spPr>
          <a:xfrm>
            <a:off x="441175" y="421475"/>
            <a:ext cx="196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Analyses </a:t>
            </a:r>
            <a:endParaRPr/>
          </a:p>
        </p:txBody>
      </p:sp>
      <p:sp>
        <p:nvSpPr>
          <p:cNvPr id="387" name="Google Shape;387;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41</a:t>
            </a:fld>
            <a:endParaRPr/>
          </a:p>
        </p:txBody>
      </p:sp>
      <p:pic>
        <p:nvPicPr>
          <p:cNvPr id="388" name="Google Shape;388;p53"/>
          <p:cNvPicPr preferRelativeResize="0"/>
          <p:nvPr/>
        </p:nvPicPr>
        <p:blipFill>
          <a:blip r:embed="rId3">
            <a:alphaModFix/>
          </a:blip>
          <a:stretch>
            <a:fillRect/>
          </a:stretch>
        </p:blipFill>
        <p:spPr>
          <a:xfrm>
            <a:off x="2015363" y="1870775"/>
            <a:ext cx="5248275" cy="22764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54"/>
          <p:cNvSpPr txBox="1">
            <a:spLocks noGrp="1"/>
          </p:cNvSpPr>
          <p:nvPr>
            <p:ph type="title"/>
          </p:nvPr>
        </p:nvSpPr>
        <p:spPr>
          <a:xfrm>
            <a:off x="441175" y="421475"/>
            <a:ext cx="1962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Analyses </a:t>
            </a:r>
            <a:endParaRPr/>
          </a:p>
        </p:txBody>
      </p:sp>
      <p:sp>
        <p:nvSpPr>
          <p:cNvPr id="394" name="Google Shape;394;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42</a:t>
            </a:fld>
            <a:endParaRPr/>
          </a:p>
        </p:txBody>
      </p:sp>
      <p:pic>
        <p:nvPicPr>
          <p:cNvPr id="395" name="Google Shape;395;p54"/>
          <p:cNvPicPr preferRelativeResize="0"/>
          <p:nvPr/>
        </p:nvPicPr>
        <p:blipFill>
          <a:blip r:embed="rId3">
            <a:alphaModFix/>
          </a:blip>
          <a:stretch>
            <a:fillRect/>
          </a:stretch>
        </p:blipFill>
        <p:spPr>
          <a:xfrm>
            <a:off x="789450" y="2248275"/>
            <a:ext cx="7565100" cy="11648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55"/>
          <p:cNvSpPr txBox="1">
            <a:spLocks noGrp="1"/>
          </p:cNvSpPr>
          <p:nvPr>
            <p:ph type="title"/>
          </p:nvPr>
        </p:nvSpPr>
        <p:spPr>
          <a:xfrm>
            <a:off x="379000" y="445025"/>
            <a:ext cx="84534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Outline</a:t>
            </a:r>
            <a:endParaRPr/>
          </a:p>
        </p:txBody>
      </p:sp>
      <p:sp>
        <p:nvSpPr>
          <p:cNvPr id="401" name="Google Shape;401;p5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lt2"/>
              </a:buClr>
              <a:buSzPts val="1800"/>
              <a:buChar char="●"/>
            </a:pPr>
            <a:r>
              <a:rPr lang="zh-TW">
                <a:solidFill>
                  <a:schemeClr val="lt2"/>
                </a:solidFill>
              </a:rPr>
              <a:t>Introduction</a:t>
            </a:r>
            <a:endParaRPr>
              <a:solidFill>
                <a:schemeClr val="lt2"/>
              </a:solidFill>
            </a:endParaRPr>
          </a:p>
          <a:p>
            <a:pPr marL="457200" lvl="0" indent="-342900" algn="l" rtl="0">
              <a:spcBef>
                <a:spcPts val="0"/>
              </a:spcBef>
              <a:spcAft>
                <a:spcPts val="0"/>
              </a:spcAft>
              <a:buClr>
                <a:schemeClr val="lt2"/>
              </a:buClr>
              <a:buSzPts val="1800"/>
              <a:buChar char="●"/>
            </a:pPr>
            <a:r>
              <a:rPr lang="zh-TW">
                <a:solidFill>
                  <a:schemeClr val="lt2"/>
                </a:solidFill>
              </a:rPr>
              <a:t>Related Work</a:t>
            </a:r>
            <a:endParaRPr>
              <a:solidFill>
                <a:schemeClr val="lt2"/>
              </a:solidFill>
            </a:endParaRPr>
          </a:p>
          <a:p>
            <a:pPr marL="457200" lvl="0" indent="-342900" algn="l" rtl="0">
              <a:spcBef>
                <a:spcPts val="0"/>
              </a:spcBef>
              <a:spcAft>
                <a:spcPts val="0"/>
              </a:spcAft>
              <a:buClr>
                <a:schemeClr val="lt2"/>
              </a:buClr>
              <a:buSzPts val="1800"/>
              <a:buChar char="●"/>
            </a:pPr>
            <a:r>
              <a:rPr lang="zh-TW">
                <a:solidFill>
                  <a:schemeClr val="lt2"/>
                </a:solidFill>
              </a:rPr>
              <a:t>Method</a:t>
            </a:r>
            <a:endParaRPr>
              <a:solidFill>
                <a:schemeClr val="lt2"/>
              </a:solidFill>
            </a:endParaRPr>
          </a:p>
          <a:p>
            <a:pPr marL="457200" lvl="0" indent="-342900" algn="l" rtl="0">
              <a:spcBef>
                <a:spcPts val="0"/>
              </a:spcBef>
              <a:spcAft>
                <a:spcPts val="0"/>
              </a:spcAft>
              <a:buClr>
                <a:schemeClr val="lt2"/>
              </a:buClr>
              <a:buSzPts val="1800"/>
              <a:buChar char="●"/>
            </a:pPr>
            <a:r>
              <a:rPr lang="zh-TW">
                <a:solidFill>
                  <a:schemeClr val="lt2"/>
                </a:solidFill>
              </a:rPr>
              <a:t>Experiments</a:t>
            </a:r>
            <a:endParaRPr>
              <a:solidFill>
                <a:schemeClr val="lt2"/>
              </a:solidFill>
            </a:endParaRPr>
          </a:p>
          <a:p>
            <a:pPr marL="457200" lvl="0" indent="-342900" algn="l" rtl="0">
              <a:spcBef>
                <a:spcPts val="0"/>
              </a:spcBef>
              <a:spcAft>
                <a:spcPts val="0"/>
              </a:spcAft>
              <a:buClr>
                <a:schemeClr val="dk1"/>
              </a:buClr>
              <a:buSzPts val="1800"/>
              <a:buChar char="●"/>
            </a:pPr>
            <a:r>
              <a:rPr lang="zh-TW">
                <a:solidFill>
                  <a:schemeClr val="dk1"/>
                </a:solidFill>
              </a:rPr>
              <a:t>Conclusion</a:t>
            </a:r>
            <a:endParaRPr>
              <a:solidFill>
                <a:schemeClr val="dk1"/>
              </a:solidFill>
            </a:endParaRPr>
          </a:p>
        </p:txBody>
      </p:sp>
      <p:sp>
        <p:nvSpPr>
          <p:cNvPr id="402" name="Google Shape;402;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56"/>
          <p:cNvSpPr txBox="1">
            <a:spLocks noGrp="1"/>
          </p:cNvSpPr>
          <p:nvPr>
            <p:ph type="title"/>
          </p:nvPr>
        </p:nvSpPr>
        <p:spPr>
          <a:xfrm>
            <a:off x="379000" y="445025"/>
            <a:ext cx="84534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zh-TW"/>
              <a:t>Conclusion</a:t>
            </a:r>
            <a:endParaRPr/>
          </a:p>
        </p:txBody>
      </p:sp>
      <p:sp>
        <p:nvSpPr>
          <p:cNvPr id="408" name="Google Shape;408;p5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Clr>
                <a:schemeClr val="dk1"/>
              </a:buClr>
              <a:buSzPts val="1800"/>
              <a:buChar char="●"/>
            </a:pPr>
            <a:r>
              <a:rPr lang="zh-TW">
                <a:solidFill>
                  <a:schemeClr val="dk1"/>
                </a:solidFill>
              </a:rPr>
              <a:t>Parallel kernels in existing methods have highly similar frequency responses.</a:t>
            </a:r>
            <a:endParaRPr>
              <a:solidFill>
                <a:schemeClr val="dk1"/>
              </a:solidFill>
            </a:endParaRPr>
          </a:p>
          <a:p>
            <a:pPr marL="457200" lvl="0" indent="-342900" algn="l" rtl="0">
              <a:spcBef>
                <a:spcPts val="0"/>
              </a:spcBef>
              <a:spcAft>
                <a:spcPts val="0"/>
              </a:spcAft>
              <a:buClr>
                <a:schemeClr val="dk1"/>
              </a:buClr>
              <a:buSzPts val="1800"/>
              <a:buChar char="●"/>
            </a:pPr>
            <a:r>
              <a:rPr lang="zh-TW">
                <a:solidFill>
                  <a:schemeClr val="dk1"/>
                </a:solidFill>
              </a:rPr>
              <a:t>Propose FDConv, learning frequency-disjoint weight and modulates frequency bands spatially.</a:t>
            </a:r>
            <a:endParaRPr>
              <a:solidFill>
                <a:schemeClr val="dk1"/>
              </a:solidFill>
            </a:endParaRPr>
          </a:p>
          <a:p>
            <a:pPr marL="457200" lvl="0" indent="-342900" algn="l" rtl="0">
              <a:spcBef>
                <a:spcPts val="0"/>
              </a:spcBef>
              <a:spcAft>
                <a:spcPts val="0"/>
              </a:spcAft>
              <a:buClr>
                <a:schemeClr val="dk1"/>
              </a:buClr>
              <a:buSzPts val="1800"/>
              <a:buChar char="●"/>
            </a:pPr>
            <a:r>
              <a:rPr lang="zh-TW">
                <a:solidFill>
                  <a:schemeClr val="dk1"/>
                </a:solidFill>
              </a:rPr>
              <a:t>The total number of parameter each weight is restricted to k×k×Cin×Cout.</a:t>
            </a:r>
            <a:endParaRPr>
              <a:solidFill>
                <a:schemeClr val="dk1"/>
              </a:solidFill>
            </a:endParaRPr>
          </a:p>
        </p:txBody>
      </p:sp>
      <p:sp>
        <p:nvSpPr>
          <p:cNvPr id="409" name="Google Shape;409;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zh-TW"/>
              <a:t>44</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2598</Words>
  <Application>Microsoft Office PowerPoint</Application>
  <PresentationFormat>如螢幕大小 (16:9)</PresentationFormat>
  <Paragraphs>289</Paragraphs>
  <Slides>44</Slides>
  <Notes>44</Notes>
  <HiddenSlides>0</HiddenSlides>
  <MMClips>0</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44</vt:i4>
      </vt:variant>
    </vt:vector>
  </HeadingPairs>
  <TitlesOfParts>
    <vt:vector size="47" baseType="lpstr">
      <vt:lpstr>Arial</vt:lpstr>
      <vt:lpstr>Cambria Math</vt:lpstr>
      <vt:lpstr>Simple Light</vt:lpstr>
      <vt:lpstr>Frequency Dynamic Convolution for Dense Image Prediction</vt:lpstr>
      <vt:lpstr>Outline</vt:lpstr>
      <vt:lpstr>Outline</vt:lpstr>
      <vt:lpstr>Introduction</vt:lpstr>
      <vt:lpstr>Outline</vt:lpstr>
      <vt:lpstr>Related Work</vt:lpstr>
      <vt:lpstr>Related Work</vt:lpstr>
      <vt:lpstr>Introduction (Yang et al.)</vt:lpstr>
      <vt:lpstr>Method (Yang et al.)</vt:lpstr>
      <vt:lpstr>Experiments (Yang et al.)</vt:lpstr>
      <vt:lpstr>Experiments (Yang et al.)</vt:lpstr>
      <vt:lpstr>Experiments (Yang et al.)</vt:lpstr>
      <vt:lpstr>Experiments (Yang et al.)</vt:lpstr>
      <vt:lpstr>Analysis (Yang et al.)</vt:lpstr>
      <vt:lpstr>Analysis (Yang et al.)</vt:lpstr>
      <vt:lpstr>Conclusion (Yang et al.)</vt:lpstr>
      <vt:lpstr>Related Work</vt:lpstr>
      <vt:lpstr>Introduction (Li et al.)</vt:lpstr>
      <vt:lpstr>Method (Li et al.)</vt:lpstr>
      <vt:lpstr>Method (Li et al.)</vt:lpstr>
      <vt:lpstr>Experiments (Li et al.)</vt:lpstr>
      <vt:lpstr>Experiments (Li et al.)</vt:lpstr>
      <vt:lpstr>Experiments (Li et al.)</vt:lpstr>
      <vt:lpstr>Experiments (Li et al.)</vt:lpstr>
      <vt:lpstr>Experiments (Li et al.)</vt:lpstr>
      <vt:lpstr>Conclusion (Li et al.)</vt:lpstr>
      <vt:lpstr>Outline</vt:lpstr>
      <vt:lpstr>Method</vt:lpstr>
      <vt:lpstr>Method</vt:lpstr>
      <vt:lpstr>Method</vt:lpstr>
      <vt:lpstr>Method</vt:lpstr>
      <vt:lpstr>Method</vt:lpstr>
      <vt:lpstr>Outline</vt:lpstr>
      <vt:lpstr>Experiments</vt:lpstr>
      <vt:lpstr>Experiments</vt:lpstr>
      <vt:lpstr>Experiments</vt:lpstr>
      <vt:lpstr>Experiments</vt:lpstr>
      <vt:lpstr>Experiments</vt:lpstr>
      <vt:lpstr>Experiments</vt:lpstr>
      <vt:lpstr>Experiments</vt:lpstr>
      <vt:lpstr>Analyses </vt:lpstr>
      <vt:lpstr>Analyses </vt:lpstr>
      <vt:lpstr>Outline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Jeffrey Lin</cp:lastModifiedBy>
  <cp:revision>2</cp:revision>
  <dcterms:modified xsi:type="dcterms:W3CDTF">2026-10-20T14:42:47Z</dcterms:modified>
</cp:coreProperties>
</file>